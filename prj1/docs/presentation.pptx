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Noto Sans KR"/>
      <p:regular r:id="rId24"/>
      <p:bold r:id="rId25"/>
    </p:embeddedFont>
    <p:embeddedFont>
      <p:font typeface="Arial Black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iE3tJugMlm7i/ufp2KzUOBFKm9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3E1383E-0732-403F-9BDE-E7FBA4C3A06F}">
  <a:tblStyle styleId="{03E1383E-0732-403F-9BDE-E7FBA4C3A06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NotoSansKR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rialBlack-regular.fntdata"/><Relationship Id="rId25" Type="http://schemas.openxmlformats.org/officeDocument/2006/relationships/font" Target="fonts/NotoSansKR-bold.fntdata"/><Relationship Id="rId27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ecdb636970_1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ecdb636970_1_2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ecdb636970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ecdb636970_1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317" name="Google Shape;31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337" name="Google Shape;337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" name="Google Shape;369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370" name="Google Shape;370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eb727b8569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00" name="Google Shape;400;g3eb727b8569_0_1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b727b856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24" name="Google Shape;424;g3eb727b8569_0_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eb727b856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33" name="Google Shape;433;g3eb727b8569_0_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eb727b856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45" name="Google Shape;445;g3eb727b8569_0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eb727b856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52" name="Google Shape;452;g3eb727b8569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/>
          </a:p>
        </p:txBody>
      </p:sp>
      <p:sp>
        <p:nvSpPr>
          <p:cNvPr id="479" name="Google Shape;47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9" name="Google Shape;29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2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2" name="Google Shape;4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0"/>
          <p:cNvSpPr/>
          <p:nvPr/>
        </p:nvSpPr>
        <p:spPr>
          <a:xfrm>
            <a:off x="0" y="-1"/>
            <a:ext cx="12192000" cy="136525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lgun Gothic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4.png"/><Relationship Id="rId8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24.png"/><Relationship Id="rId5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ragstar-sogang.streamlit.app/" TargetMode="External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2" name="Google Shape;92;p1"/>
          <p:cNvGrpSpPr/>
          <p:nvPr/>
        </p:nvGrpSpPr>
        <p:grpSpPr>
          <a:xfrm>
            <a:off x="670560" y="835535"/>
            <a:ext cx="10850879" cy="5186929"/>
            <a:chOff x="731520" y="968217"/>
            <a:chExt cx="10850879" cy="5186929"/>
          </a:xfrm>
        </p:grpSpPr>
        <p:sp>
          <p:nvSpPr>
            <p:cNvPr id="93" name="Google Shape;93;p1"/>
            <p:cNvSpPr txBox="1"/>
            <p:nvPr/>
          </p:nvSpPr>
          <p:spPr>
            <a:xfrm>
              <a:off x="731520" y="968217"/>
              <a:ext cx="6096000" cy="14773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3A3A3A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RAGstar</a:t>
              </a:r>
              <a:endParaRPr b="0" i="0" sz="240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4" name="Google Shape;94;p1"/>
            <p:cNvSpPr txBox="1"/>
            <p:nvPr/>
          </p:nvSpPr>
          <p:spPr>
            <a:xfrm>
              <a:off x="731520" y="2560320"/>
              <a:ext cx="6096000" cy="181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1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RAG 기반 사내망 전용</a:t>
              </a:r>
              <a:br>
                <a:rPr b="1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OOM 디버깅 지원 웹 서비스</a:t>
              </a:r>
              <a:br>
                <a:rPr b="1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br>
                <a:rPr b="1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lang="en-US" sz="2400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프로젝트 최종 발표</a:t>
              </a:r>
              <a:endParaRPr b="0" i="0" sz="2400" u="none" cap="none" strike="noStrike">
                <a:solidFill>
                  <a:srgbClr val="3A3A3A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731520" y="5207001"/>
              <a:ext cx="6096000" cy="9048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캡스톤디자인 1</a:t>
              </a:r>
              <a:br>
                <a:rPr b="0" i="0" lang="en-US" sz="1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지도교수 : 장두성</a:t>
              </a:r>
              <a:br>
                <a:rPr b="0" i="0" lang="en-US" sz="1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Track 2 자유 주제</a:t>
              </a:r>
              <a:endParaRPr b="0" i="0" sz="1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7315200" y="1194816"/>
              <a:ext cx="195072" cy="195072"/>
            </a:xfrm>
            <a:prstGeom prst="ellipse">
              <a:avLst/>
            </a:prstGeom>
            <a:solidFill>
              <a:srgbClr val="FF5F56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7620000" y="1194816"/>
              <a:ext cx="195072" cy="195072"/>
            </a:xfrm>
            <a:prstGeom prst="ellipse">
              <a:avLst/>
            </a:prstGeom>
            <a:solidFill>
              <a:srgbClr val="FFBD2E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7924800" y="1194816"/>
              <a:ext cx="195072" cy="195072"/>
            </a:xfrm>
            <a:prstGeom prst="ellipse">
              <a:avLst/>
            </a:prstGeom>
            <a:solidFill>
              <a:srgbClr val="27C93F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" name="Google Shape;99;p1"/>
            <p:cNvGrpSpPr/>
            <p:nvPr/>
          </p:nvGrpSpPr>
          <p:grpSpPr>
            <a:xfrm>
              <a:off x="6668242" y="975359"/>
              <a:ext cx="4914157" cy="5179787"/>
              <a:chOff x="7071360" y="975360"/>
              <a:chExt cx="4511040" cy="4754880"/>
            </a:xfrm>
          </p:grpSpPr>
          <p:sp>
            <p:nvSpPr>
              <p:cNvPr id="100" name="Google Shape;100;p1"/>
              <p:cNvSpPr/>
              <p:nvPr/>
            </p:nvSpPr>
            <p:spPr>
              <a:xfrm>
                <a:off x="7071360" y="975360"/>
                <a:ext cx="4511040" cy="4754880"/>
              </a:xfrm>
              <a:prstGeom prst="rect">
                <a:avLst/>
              </a:prstGeom>
              <a:solidFill>
                <a:srgbClr val="0F1419"/>
              </a:solidFill>
              <a:ln>
                <a:noFill/>
              </a:ln>
            </p:spPr>
            <p:txBody>
              <a:bodyPr anchorCtr="0" anchor="ctr" bIns="60925" lIns="121900" spcFirstLastPara="1" rIns="121900" wrap="square" tIns="60925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 txBox="1"/>
              <p:nvPr/>
            </p:nvSpPr>
            <p:spPr>
              <a:xfrm>
                <a:off x="7376160" y="1645920"/>
                <a:ext cx="3901500" cy="37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27C93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$ ragstar status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FFBD2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Phase 1 dataset    [done]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FFBD2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Phase 2 pipeline   [done]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FFBD2E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Phase 3 KCC paper  [done]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27C93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Phase 4 vLLM + web [done]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00D4A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Phase 5 contest    [active]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t/>
                </a:r>
                <a:endParaRPr b="0" i="0" sz="1733" u="none" cap="none" strike="noStrike">
                  <a:solidFill>
                    <a:srgbClr val="00D4AA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27C93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$ ragstar </a:t>
                </a:r>
                <a:r>
                  <a:rPr lang="en-US" sz="1733">
                    <a:solidFill>
                      <a:srgbClr val="27C93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participants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</a:t>
                </a:r>
                <a:r>
                  <a:rPr lang="en-US" sz="1733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Seung-Muk Kang</a:t>
                </a:r>
                <a:endParaRPr b="0"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</a:t>
                </a:r>
                <a:r>
                  <a:rPr lang="en-US" sz="1733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Joon-Young Park</a:t>
                </a:r>
                <a:endParaRPr sz="173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lang="en-US" sz="1733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Kyu-Hyung Lee</a:t>
                </a:r>
                <a:endParaRPr sz="1733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marR="0" rtl="0"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lang="en-US" sz="1733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  Ji-Hoon Ha</a:t>
                </a:r>
                <a:endParaRPr i="0" sz="24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09600" y="1402080"/>
            <a:ext cx="3474720" cy="3901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109" name="Google Shape;10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15" y="1695233"/>
            <a:ext cx="487680" cy="48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1462915" y="1603822"/>
            <a:ext cx="2316600" cy="6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OOM 분석의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높은 진입장벽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1" name="Google Shape;111;p3"/>
          <p:cNvCxnSpPr/>
          <p:nvPr/>
        </p:nvCxnSpPr>
        <p:spPr>
          <a:xfrm>
            <a:off x="853440" y="2438400"/>
            <a:ext cx="2987040" cy="0"/>
          </a:xfrm>
          <a:prstGeom prst="straightConnector1">
            <a:avLst/>
          </a:prstGeom>
          <a:noFill/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3"/>
          <p:cNvSpPr/>
          <p:nvPr/>
        </p:nvSpPr>
        <p:spPr>
          <a:xfrm>
            <a:off x="731525" y="2602475"/>
            <a:ext cx="3352800" cy="23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수백 줄 비정형 </a:t>
            </a:r>
            <a:r>
              <a:rPr lang="en-US" sz="24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로그</a:t>
            </a:r>
            <a:endParaRPr sz="2400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</a:t>
            </a:r>
            <a:r>
              <a:rPr lang="en-US" sz="24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컨텍스트 기반 추론 필요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신입 독립 해결 불가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389120" y="1402080"/>
            <a:ext cx="3474720" cy="3901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2960" y="1645920"/>
            <a:ext cx="487680" cy="48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5242560" y="1584960"/>
            <a:ext cx="231648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사내 지식의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파편화 및 비효율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4632960" y="2438400"/>
            <a:ext cx="2987040" cy="0"/>
          </a:xfrm>
          <a:prstGeom prst="straightConnector1">
            <a:avLst/>
          </a:prstGeom>
          <a:noFill/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3"/>
          <p:cNvSpPr/>
          <p:nvPr/>
        </p:nvSpPr>
        <p:spPr>
          <a:xfrm>
            <a:off x="4389125" y="2790200"/>
            <a:ext cx="3474600" cy="21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위키, 이슈트래커에</a:t>
            </a:r>
            <a:b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  분산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과거 해결 이력 활용</a:t>
            </a:r>
            <a:b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  어려움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MTTR 지속적 증가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8168640" y="1402080"/>
            <a:ext cx="3474720" cy="3901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preencoded.png" id="119" name="Google Shape;11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12480" y="1645920"/>
            <a:ext cx="487680" cy="48768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/>
          <p:nvPr/>
        </p:nvSpPr>
        <p:spPr>
          <a:xfrm>
            <a:off x="9022080" y="1584960"/>
            <a:ext cx="2316480" cy="670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외부 LLM 활용의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보안 한계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121" name="Google Shape;121;p3"/>
          <p:cNvCxnSpPr/>
          <p:nvPr/>
        </p:nvCxnSpPr>
        <p:spPr>
          <a:xfrm>
            <a:off x="8412480" y="2438400"/>
            <a:ext cx="2987040" cy="0"/>
          </a:xfrm>
          <a:prstGeom prst="straightConnector1">
            <a:avLst/>
          </a:prstGeom>
          <a:noFill/>
          <a:ln cap="flat" cmpd="sng" w="12700">
            <a:solidFill>
              <a:srgbClr val="E8E8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3"/>
          <p:cNvSpPr/>
          <p:nvPr/>
        </p:nvSpPr>
        <p:spPr>
          <a:xfrm>
            <a:off x="8412480" y="2849580"/>
            <a:ext cx="2987100" cy="182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민감 보안 데이터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통신 시 유출 위험</a:t>
            </a:r>
            <a:endParaRPr sz="2400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˙ ChatGPT, Claude</a:t>
            </a:r>
            <a:b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24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  직접 입력 불가</a:t>
            </a:r>
            <a:endParaRPr b="0" i="0" sz="24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9567" y="5655310"/>
            <a:ext cx="10972800" cy="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121917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b="0" i="0" lang="en-US" sz="2133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신입 개발자의 경우, 로그만 보고 근본 원인 파악 어려움</a:t>
            </a:r>
            <a:endParaRPr b="0" i="0" sz="2133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rPr b="0" i="0" lang="en-US" sz="2133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     로컬 LLM + RAG로 사내망에서도 동작하는 OOM 전문 디버깅 도구의 필요성</a:t>
            </a:r>
            <a:endParaRPr b="0" i="0" sz="2133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/ 요구 분석</a:t>
            </a:r>
            <a:endParaRPr b="0" i="0" sz="3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130" name="Google Shape;130;p4"/>
          <p:cNvGraphicFramePr/>
          <p:nvPr/>
        </p:nvGraphicFramePr>
        <p:xfrm>
          <a:off x="365760" y="15339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{03E1383E-0732-403F-9BDE-E7FBA4C3A06F}</a:tableStyleId>
              </a:tblPr>
              <a:tblGrid>
                <a:gridCol w="2200000"/>
                <a:gridCol w="3000000"/>
                <a:gridCol w="3200000"/>
                <a:gridCol w="3060475"/>
              </a:tblGrid>
              <a:tr h="45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>
                          <a:solidFill>
                            <a:srgbClr val="8B1A1A"/>
                          </a:solidFill>
                        </a:rPr>
                        <a:t>유형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8B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대표 도구 / 연구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8B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접근 방식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1" lang="en-US" sz="2000" u="none" cap="none" strike="noStrike">
                          <a:solidFill>
                            <a:srgbClr val="8B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한계점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3A3A3A"/>
                          </a:solidFill>
                        </a:rPr>
                        <a:t>OOM 완화 도구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oomd, systemd-oomd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Linux PSI + cgroup v2 기반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커널 OOM killer 이전 프로세스 종료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정책 집행만 수행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원인을 자연어로 설명 불가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3A3A3A"/>
                          </a:solidFill>
                        </a:rPr>
                        <a:t>모니터링 도구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bcc/eBPF, oomkill · memleak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vmcore · 콜스택 수집 및 표시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전문 엔지니어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수동 해석 의존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LLM 기반 Incident 진단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RCACopilot, k8sgpt</a:t>
                      </a:r>
                      <a:endParaRPr sz="14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Song &amp; Kim '26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GPT 기반 인시던트 분류 (F1 0.766)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규칙 기반 로그 압축 (99.5% 감축)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호스팅 LLM 전제 </a:t>
                      </a: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(gpt-4o 등)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RAG · 외부 KB 미활용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장애 유형 비특화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7F0F0"/>
                    </a:solidFill>
                  </a:tcPr>
                </a:tc>
              </a:tr>
              <a:tr h="8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3A3A3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RAG 기반 로그 분석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XRAGLog, DeepLog</a:t>
                      </a:r>
                      <a:endParaRPr sz="14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계층적 로그 압축 + RAG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LSTM 시퀀스 이상 탐지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이상 판정이 목표,</a:t>
                      </a:r>
                      <a:endParaRPr sz="14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3A3A3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조치 가이드 생성 없음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4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기술 / 서비스 현황</a:t>
            </a:r>
            <a:endParaRPr b="0" i="0" sz="3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2297050" y="5725106"/>
            <a:ext cx="8301100" cy="63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RAGstar :  폐쇄망 로컬 LLM  / OOM dmesg 특화  </a:t>
            </a:r>
            <a:br>
              <a:rPr b="1" i="0" lang="en-US" sz="18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8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	/ ChromaDB RAG 조치 가이드  / LangGraph 결정 규칙 + 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7"/>
          <p:cNvGrpSpPr/>
          <p:nvPr/>
        </p:nvGrpSpPr>
        <p:grpSpPr>
          <a:xfrm>
            <a:off x="0" y="0"/>
            <a:ext cx="12192000" cy="6712726"/>
            <a:chOff x="0" y="0"/>
            <a:chExt cx="12192000" cy="6712726"/>
          </a:xfrm>
        </p:grpSpPr>
        <p:sp>
          <p:nvSpPr>
            <p:cNvPr id="138" name="Google Shape;138;p7"/>
            <p:cNvSpPr/>
            <p:nvPr/>
          </p:nvSpPr>
          <p:spPr>
            <a:xfrm>
              <a:off x="0" y="0"/>
              <a:ext cx="12192000" cy="146304"/>
            </a:xfrm>
            <a:prstGeom prst="rect">
              <a:avLst/>
            </a:prstGeom>
            <a:solidFill>
              <a:srgbClr val="8B1A1A"/>
            </a:solidFill>
            <a:ln>
              <a:noFill/>
            </a:ln>
          </p:spPr>
          <p:txBody>
            <a:bodyPr anchorCtr="0" anchor="ctr" bIns="60925" lIns="121900" spcFirstLastPara="1" rIns="121900" wrap="square" tIns="609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" name="Google Shape;139;p7"/>
            <p:cNvGrpSpPr/>
            <p:nvPr/>
          </p:nvGrpSpPr>
          <p:grpSpPr>
            <a:xfrm>
              <a:off x="392828" y="1173504"/>
              <a:ext cx="11187808" cy="5539222"/>
              <a:chOff x="230286" y="441577"/>
              <a:chExt cx="8812939" cy="3987099"/>
            </a:xfrm>
          </p:grpSpPr>
          <p:pic>
            <p:nvPicPr>
              <p:cNvPr descr="preencoded.png" id="140" name="Google Shape;140;p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526809" y="1808462"/>
                <a:ext cx="593046" cy="59304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1" name="Google Shape;141;p7"/>
              <p:cNvSpPr/>
              <p:nvPr/>
            </p:nvSpPr>
            <p:spPr>
              <a:xfrm>
                <a:off x="230286" y="2460821"/>
                <a:ext cx="1186200" cy="35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33"/>
                  </a:buClr>
                  <a:buSzPts val="1427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User</a:t>
                </a:r>
                <a:endParaRPr b="0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descr="preencoded.png" id="142" name="Google Shape;142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288689" y="1961628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7"/>
              <p:cNvSpPr/>
              <p:nvPr/>
            </p:nvSpPr>
            <p:spPr>
              <a:xfrm>
                <a:off x="1715682" y="1202530"/>
                <a:ext cx="1707900" cy="2087700"/>
              </a:xfrm>
              <a:prstGeom prst="roundRect">
                <a:avLst>
                  <a:gd fmla="val 5556" name="adj"/>
                </a:avLst>
              </a:prstGeom>
              <a:solidFill>
                <a:srgbClr val="E8F4FD"/>
              </a:solidFill>
              <a:ln cap="flat" cmpd="sng" w="19750">
                <a:solidFill>
                  <a:srgbClr val="4A90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4" name="Google Shape;144;p7"/>
              <p:cNvSpPr/>
              <p:nvPr/>
            </p:nvSpPr>
            <p:spPr>
              <a:xfrm>
                <a:off x="1715682" y="862687"/>
                <a:ext cx="17079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A90D9"/>
                  </a:buClr>
                  <a:buSzPts val="1453"/>
                  <a:buFont typeface="Arial"/>
                  <a:buNone/>
                </a:pPr>
                <a:r>
                  <a:rPr b="1" i="0" lang="en-US" sz="1660" u="none" cap="none" strike="noStrike">
                    <a:solidFill>
                      <a:srgbClr val="4A90D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Frontend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4A90D9"/>
                  </a:buClr>
                  <a:buSzPts val="1453"/>
                  <a:buFont typeface="Arial"/>
                  <a:buNone/>
                </a:pPr>
                <a:r>
                  <a:rPr b="1" i="0" lang="en-US" sz="1660" u="none" cap="none" strike="noStrike">
                    <a:solidFill>
                      <a:srgbClr val="4A90D9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(Streamlit cloud)</a:t>
                </a:r>
                <a:endParaRPr b="0" i="0" sz="166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742189" y="2198817"/>
                <a:ext cx="1707900" cy="569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33"/>
                  </a:buClr>
                  <a:buSzPts val="1141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Streamlit</a:t>
                </a:r>
                <a:endParaRPr b="1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33"/>
                  </a:buClr>
                  <a:buSzPts val="1141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UI/UX</a:t>
                </a:r>
                <a:endParaRPr b="1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descr="preencoded.png" id="146" name="Google Shape;146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482048" y="1961628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7" name="Google Shape;147;p7"/>
              <p:cNvSpPr/>
              <p:nvPr/>
            </p:nvSpPr>
            <p:spPr>
              <a:xfrm>
                <a:off x="3857950" y="1202530"/>
                <a:ext cx="1707900" cy="2087700"/>
              </a:xfrm>
              <a:prstGeom prst="roundRect">
                <a:avLst>
                  <a:gd fmla="val 5556" name="adj"/>
                </a:avLst>
              </a:prstGeom>
              <a:solidFill>
                <a:srgbClr val="FFF3E0"/>
              </a:solidFill>
              <a:ln cap="flat" cmpd="sng" w="19750">
                <a:solidFill>
                  <a:srgbClr val="E67E2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" name="Google Shape;148;p7"/>
              <p:cNvSpPr/>
              <p:nvPr/>
            </p:nvSpPr>
            <p:spPr>
              <a:xfrm>
                <a:off x="3857950" y="862609"/>
                <a:ext cx="1707900" cy="28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E67E22"/>
                  </a:buClr>
                  <a:buSzPts val="1453"/>
                  <a:buFont typeface="Arial"/>
                  <a:buNone/>
                </a:pPr>
                <a:r>
                  <a:rPr b="1" i="0" lang="en-US" sz="1660" u="none" cap="none" strike="noStrike">
                    <a:solidFill>
                      <a:srgbClr val="E67E2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Backend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60"/>
                  <a:buFont typeface="Arial"/>
                  <a:buNone/>
                </a:pPr>
                <a:r>
                  <a:rPr b="1" i="0" lang="en-US" sz="1660" u="none" cap="none" strike="noStrike">
                    <a:solidFill>
                      <a:srgbClr val="E67E22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(Amazon EC2)</a:t>
                </a:r>
                <a:endParaRPr b="0" i="0" sz="166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49" name="Google Shape;149;p7"/>
              <p:cNvSpPr/>
              <p:nvPr/>
            </p:nvSpPr>
            <p:spPr>
              <a:xfrm>
                <a:off x="3857962" y="2057618"/>
                <a:ext cx="1707900" cy="7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33"/>
                  </a:buClr>
                  <a:buSzPts val="1141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FastAPI</a:t>
                </a:r>
                <a:endParaRPr b="1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33"/>
                  </a:buClr>
                  <a:buSzPts val="1141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API 라우팅</a:t>
                </a:r>
                <a:endParaRPr b="1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descr="preencoded.png" id="150" name="Google Shape;150;p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657161" y="1961628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1" name="Google Shape;151;p7"/>
              <p:cNvSpPr/>
              <p:nvPr/>
            </p:nvSpPr>
            <p:spPr>
              <a:xfrm>
                <a:off x="6230125" y="822976"/>
                <a:ext cx="2813100" cy="3605700"/>
              </a:xfrm>
              <a:prstGeom prst="roundRect">
                <a:avLst>
                  <a:gd fmla="val 3571" name="adj"/>
                </a:avLst>
              </a:prstGeom>
              <a:solidFill>
                <a:srgbClr val="E8F5E9"/>
              </a:solidFill>
              <a:ln cap="flat" cmpd="sng" w="19750">
                <a:solidFill>
                  <a:srgbClr val="27AE6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7"/>
              <p:cNvSpPr/>
              <p:nvPr/>
            </p:nvSpPr>
            <p:spPr>
              <a:xfrm>
                <a:off x="6230132" y="441577"/>
                <a:ext cx="2813093" cy="332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AE60"/>
                  </a:buClr>
                  <a:buSzPts val="1556"/>
                  <a:buFont typeface="Arial"/>
                  <a:buNone/>
                </a:pPr>
                <a:r>
                  <a:rPr b="1" i="0" lang="en-US" sz="1764" u="none" cap="none" strike="noStrike">
                    <a:solidFill>
                      <a:srgbClr val="27AE6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RAG Engine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AE60"/>
                  </a:buClr>
                  <a:buSzPts val="1556"/>
                  <a:buFont typeface="Arial"/>
                  <a:buNone/>
                </a:pPr>
                <a:r>
                  <a:rPr b="1" i="0" lang="en-US" sz="1764" u="none" cap="none" strike="noStrike">
                    <a:solidFill>
                      <a:srgbClr val="27AE60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(자체 서버)</a:t>
                </a:r>
                <a:endParaRPr b="0" i="0" sz="1764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53" name="Google Shape;153;p7"/>
              <p:cNvSpPr/>
              <p:nvPr/>
            </p:nvSpPr>
            <p:spPr>
              <a:xfrm>
                <a:off x="6294775" y="898556"/>
                <a:ext cx="2682600" cy="1043700"/>
              </a:xfrm>
              <a:prstGeom prst="roundRect">
                <a:avLst>
                  <a:gd fmla="val 7273" name="adj"/>
                </a:avLst>
              </a:prstGeom>
              <a:solidFill>
                <a:srgbClr val="FFFFFF"/>
              </a:solidFill>
              <a:ln cap="flat" cmpd="sng" w="13175">
                <a:solidFill>
                  <a:srgbClr val="27AE6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4" name="Google Shape;154;p7"/>
              <p:cNvSpPr/>
              <p:nvPr/>
            </p:nvSpPr>
            <p:spPr>
              <a:xfrm>
                <a:off x="6401781" y="1324420"/>
                <a:ext cx="2468588" cy="459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AE60"/>
                  </a:buClr>
                  <a:buSzPts val="1245"/>
                  <a:buFont typeface="Arial"/>
                  <a:buNone/>
                </a:pPr>
                <a:r>
                  <a:rPr b="1" i="0" lang="en-US" sz="165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LangGraph</a:t>
                </a:r>
                <a:endParaRPr b="1" i="0" sz="165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7AE60"/>
                  </a:buClr>
                  <a:buSzPts val="1245"/>
                  <a:buFont typeface="Arial"/>
                  <a:buNone/>
                </a:pPr>
                <a:r>
                  <a:rPr b="1" i="0" lang="en-US" sz="165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파이프라인 오케스트레이션</a:t>
                </a:r>
                <a:endParaRPr b="1" i="0" sz="165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>
                <a:off x="6294775" y="2021862"/>
                <a:ext cx="2682600" cy="1135587"/>
              </a:xfrm>
              <a:prstGeom prst="roundRect">
                <a:avLst>
                  <a:gd fmla="val 9412" name="adj"/>
                </a:avLst>
              </a:prstGeom>
              <a:solidFill>
                <a:srgbClr val="FFFFFF"/>
              </a:solidFill>
              <a:ln cap="flat" cmpd="sng" w="13175">
                <a:solidFill>
                  <a:srgbClr val="27AE6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6" name="Google Shape;156;p7"/>
              <p:cNvSpPr/>
              <p:nvPr/>
            </p:nvSpPr>
            <p:spPr>
              <a:xfrm>
                <a:off x="6294775" y="3239737"/>
                <a:ext cx="2682600" cy="1135587"/>
              </a:xfrm>
              <a:prstGeom prst="roundRect">
                <a:avLst>
                  <a:gd fmla="val 9412" name="adj"/>
                </a:avLst>
              </a:prstGeom>
              <a:solidFill>
                <a:srgbClr val="FFFFFF"/>
              </a:solidFill>
              <a:ln cap="flat" cmpd="sng" w="13175">
                <a:solidFill>
                  <a:srgbClr val="8E44A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7400" lIns="94875" spcFirstLastPara="1" rIns="94875" wrap="square" tIns="474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8"/>
                  <a:buFont typeface="Arial"/>
                  <a:buNone/>
                </a:pPr>
                <a:r>
                  <a:t/>
                </a:r>
                <a:endParaRPr b="0" i="0" sz="1868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7"/>
              <p:cNvSpPr/>
              <p:nvPr/>
            </p:nvSpPr>
            <p:spPr>
              <a:xfrm>
                <a:off x="6421789" y="3883206"/>
                <a:ext cx="2446731" cy="4148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E44AD"/>
                  </a:buClr>
                  <a:buSzPts val="1245"/>
                  <a:buFont typeface="Arial"/>
                  <a:buNone/>
                </a:pPr>
                <a:r>
                  <a:rPr b="1" i="0" lang="en-US" sz="165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vLLM</a:t>
                </a:r>
                <a:endParaRPr b="1" i="0" sz="165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ctr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8E44AD"/>
                  </a:buClr>
                  <a:buSzPts val="1245"/>
                  <a:buFont typeface="Arial"/>
                  <a:buNone/>
                </a:pPr>
                <a:r>
                  <a:rPr b="1" i="0" lang="en-US" sz="165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로컬 LLM 추론</a:t>
                </a:r>
                <a:endParaRPr b="1" i="0" sz="165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pic>
            <p:nvPicPr>
              <p:cNvPr descr="preencoded.png" id="158" name="Google Shape;158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1288689" y="2364892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159" name="Google Shape;159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3481996" y="2341180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preencoded.png" id="160" name="Google Shape;160;p7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10800000">
                <a:off x="5657161" y="2341180"/>
                <a:ext cx="284662" cy="2846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1" name="Google Shape;161;p7" title="streamlit.png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2022144" y="1293368"/>
                <a:ext cx="1094975" cy="60123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2" name="Google Shape;162;p7" title="fastapi.png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3869416" y="1344850"/>
                <a:ext cx="1668431" cy="601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3" name="Google Shape;163;p7" title="LangChain_Logo.svg.png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66086" t="0"/>
              <a:stretch/>
            </p:blipFill>
            <p:spPr>
              <a:xfrm>
                <a:off x="7339550" y="995343"/>
                <a:ext cx="593050" cy="2991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4" name="Google Shape;164;p7" title="chroma db.png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7339550" y="1972151"/>
                <a:ext cx="663625" cy="663648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5" name="Google Shape;165;p7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0"/>
              <a:stretch/>
            </p:blipFill>
            <p:spPr>
              <a:xfrm>
                <a:off x="7393513" y="3290230"/>
                <a:ext cx="555699" cy="5556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66" name="Google Shape;166;p7"/>
            <p:cNvSpPr txBox="1"/>
            <p:nvPr/>
          </p:nvSpPr>
          <p:spPr>
            <a:xfrm>
              <a:off x="5963453" y="5658648"/>
              <a:ext cx="1908712" cy="4247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Polling 통신</a:t>
              </a:r>
              <a:endParaRPr b="0" i="0" sz="1867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67" name="Google Shape;167;p7"/>
          <p:cNvSpPr txBox="1"/>
          <p:nvPr/>
        </p:nvSpPr>
        <p:spPr>
          <a:xfrm>
            <a:off x="731520" y="497014"/>
            <a:ext cx="107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방법론 #1 - 전체 아키텍쳐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cxnSp>
        <p:nvCxnSpPr>
          <p:cNvPr id="168" name="Google Shape;168;p7"/>
          <p:cNvCxnSpPr/>
          <p:nvPr/>
        </p:nvCxnSpPr>
        <p:spPr>
          <a:xfrm>
            <a:off x="7462797" y="4324350"/>
            <a:ext cx="0" cy="1257300"/>
          </a:xfrm>
          <a:prstGeom prst="straightConnector1">
            <a:avLst/>
          </a:prstGeom>
          <a:noFill/>
          <a:ln cap="flat" cmpd="sng" w="12700">
            <a:solidFill>
              <a:srgbClr val="8B1A1A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69" name="Google Shape;169;p7"/>
          <p:cNvSpPr/>
          <p:nvPr/>
        </p:nvSpPr>
        <p:spPr>
          <a:xfrm>
            <a:off x="5849759" y="5572663"/>
            <a:ext cx="1946257" cy="585227"/>
          </a:xfrm>
          <a:prstGeom prst="rect">
            <a:avLst/>
          </a:prstGeom>
          <a:noFill/>
          <a:ln cap="flat" cmpd="sng" w="12700">
            <a:solidFill>
              <a:srgbClr val="8B1A1A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8227387" y="4079827"/>
            <a:ext cx="3133811" cy="638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45"/>
              <a:buFont typeface="Arial"/>
              <a:buNone/>
            </a:pPr>
            <a:r>
              <a:rPr b="1" i="0" lang="en-US" sz="165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ChromaDB</a:t>
            </a:r>
            <a:endParaRPr b="1" i="0" sz="165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AE60"/>
              </a:buClr>
              <a:buSzPts val="1245"/>
              <a:buFont typeface="Arial"/>
              <a:buNone/>
            </a:pPr>
            <a:r>
              <a:rPr b="1" i="0" lang="en-US" sz="165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벡터 DB 검색</a:t>
            </a:r>
            <a:endParaRPr b="1" i="0" sz="165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ecdb636970_1_215"/>
          <p:cNvSpPr/>
          <p:nvPr/>
        </p:nvSpPr>
        <p:spPr>
          <a:xfrm>
            <a:off x="0" y="0"/>
            <a:ext cx="12191700" cy="1647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ecdb636970_1_215"/>
          <p:cNvSpPr/>
          <p:nvPr/>
        </p:nvSpPr>
        <p:spPr>
          <a:xfrm>
            <a:off x="502920" y="384048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1A1A"/>
                </a:solidFill>
                <a:latin typeface="Georgia"/>
                <a:ea typeface="Georgia"/>
                <a:cs typeface="Georgia"/>
                <a:sym typeface="Georgia"/>
              </a:rPr>
              <a:t>구현 방법론 #2 - 요청 동기화 처리 방식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" name="Google Shape;177;g3ecdb636970_1_215"/>
          <p:cNvGrpSpPr/>
          <p:nvPr/>
        </p:nvGrpSpPr>
        <p:grpSpPr>
          <a:xfrm>
            <a:off x="525323" y="1445315"/>
            <a:ext cx="2789868" cy="813886"/>
            <a:chOff x="822960" y="1692735"/>
            <a:chExt cx="2194500" cy="640200"/>
          </a:xfrm>
        </p:grpSpPr>
        <p:sp>
          <p:nvSpPr>
            <p:cNvPr id="178" name="Google Shape;178;g3ecdb636970_1_215"/>
            <p:cNvSpPr/>
            <p:nvPr/>
          </p:nvSpPr>
          <p:spPr>
            <a:xfrm>
              <a:off x="822960" y="1692735"/>
              <a:ext cx="2194500" cy="640200"/>
            </a:xfrm>
            <a:prstGeom prst="roundRect">
              <a:avLst>
                <a:gd fmla="val 8571" name="adj"/>
              </a:avLst>
            </a:prstGeom>
            <a:solidFill>
              <a:srgbClr val="2E6DB4"/>
            </a:solidFill>
            <a:ln>
              <a:noFill/>
            </a:ln>
          </p:spPr>
          <p:txBody>
            <a:bodyPr anchorCtr="0" anchor="ctr" bIns="116225" lIns="116225" spcFirstLastPara="1" rIns="116225" wrap="square" tIns="116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g3ecdb636970_1_215"/>
            <p:cNvSpPr/>
            <p:nvPr/>
          </p:nvSpPr>
          <p:spPr>
            <a:xfrm>
              <a:off x="822960" y="1692735"/>
              <a:ext cx="2194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100" lIns="116225" spcFirstLastPara="1" rIns="116225" wrap="square" tIns="5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3"/>
                <a:buFont typeface="Calibri"/>
                <a:buNone/>
              </a:pPr>
              <a: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Frontend</a:t>
              </a:r>
              <a:b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260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Streamlit</a:t>
              </a:r>
              <a:endParaRPr b="0" i="0" sz="30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0" name="Google Shape;180;g3ecdb636970_1_215"/>
          <p:cNvCxnSpPr/>
          <p:nvPr/>
        </p:nvCxnSpPr>
        <p:spPr>
          <a:xfrm>
            <a:off x="1920240" y="2332815"/>
            <a:ext cx="0" cy="38406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81" name="Google Shape;181;g3ecdb636970_1_215"/>
          <p:cNvGrpSpPr/>
          <p:nvPr/>
        </p:nvGrpSpPr>
        <p:grpSpPr>
          <a:xfrm>
            <a:off x="4822989" y="1518940"/>
            <a:ext cx="2789868" cy="813886"/>
            <a:chOff x="5120640" y="1692735"/>
            <a:chExt cx="2194500" cy="640200"/>
          </a:xfrm>
        </p:grpSpPr>
        <p:sp>
          <p:nvSpPr>
            <p:cNvPr id="182" name="Google Shape;182;g3ecdb636970_1_215"/>
            <p:cNvSpPr/>
            <p:nvPr/>
          </p:nvSpPr>
          <p:spPr>
            <a:xfrm>
              <a:off x="5120640" y="1692735"/>
              <a:ext cx="2194500" cy="640200"/>
            </a:xfrm>
            <a:prstGeom prst="roundRect">
              <a:avLst>
                <a:gd fmla="val 8571" name="adj"/>
              </a:avLst>
            </a:prstGeom>
            <a:solidFill>
              <a:srgbClr val="D98324"/>
            </a:solidFill>
            <a:ln>
              <a:noFill/>
            </a:ln>
          </p:spPr>
          <p:txBody>
            <a:bodyPr anchorCtr="0" anchor="ctr" bIns="116225" lIns="116225" spcFirstLastPara="1" rIns="116225" wrap="square" tIns="116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g3ecdb636970_1_215"/>
            <p:cNvSpPr/>
            <p:nvPr/>
          </p:nvSpPr>
          <p:spPr>
            <a:xfrm>
              <a:off x="5120640" y="1692735"/>
              <a:ext cx="2194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100" lIns="116225" spcFirstLastPara="1" rIns="116225" wrap="square" tIns="5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3"/>
                <a:buFont typeface="Calibri"/>
                <a:buNone/>
              </a:pPr>
              <a: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Backend</a:t>
              </a:r>
              <a:b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260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FastAPI (EC2)</a:t>
              </a:r>
              <a:endParaRPr b="0" i="0" sz="30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4" name="Google Shape;184;g3ecdb636970_1_215"/>
          <p:cNvCxnSpPr/>
          <p:nvPr/>
        </p:nvCxnSpPr>
        <p:spPr>
          <a:xfrm>
            <a:off x="6217920" y="2332815"/>
            <a:ext cx="0" cy="38406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185" name="Google Shape;185;g3ecdb636970_1_215"/>
          <p:cNvGrpSpPr/>
          <p:nvPr/>
        </p:nvGrpSpPr>
        <p:grpSpPr>
          <a:xfrm>
            <a:off x="9120642" y="1518940"/>
            <a:ext cx="2789868" cy="813886"/>
            <a:chOff x="9418320" y="1692735"/>
            <a:chExt cx="2194500" cy="640200"/>
          </a:xfrm>
        </p:grpSpPr>
        <p:sp>
          <p:nvSpPr>
            <p:cNvPr id="186" name="Google Shape;186;g3ecdb636970_1_215"/>
            <p:cNvSpPr/>
            <p:nvPr/>
          </p:nvSpPr>
          <p:spPr>
            <a:xfrm>
              <a:off x="9418320" y="1692735"/>
              <a:ext cx="2194500" cy="640200"/>
            </a:xfrm>
            <a:prstGeom prst="roundRect">
              <a:avLst>
                <a:gd fmla="val 8571" name="adj"/>
              </a:avLst>
            </a:prstGeom>
            <a:solidFill>
              <a:srgbClr val="1E8449"/>
            </a:solidFill>
            <a:ln>
              <a:noFill/>
            </a:ln>
          </p:spPr>
          <p:txBody>
            <a:bodyPr anchorCtr="0" anchor="ctr" bIns="116225" lIns="116225" spcFirstLastPara="1" rIns="116225" wrap="square" tIns="116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g3ecdb636970_1_215"/>
            <p:cNvSpPr/>
            <p:nvPr/>
          </p:nvSpPr>
          <p:spPr>
            <a:xfrm>
              <a:off x="9418320" y="1692735"/>
              <a:ext cx="2194500" cy="64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8100" lIns="116225" spcFirstLastPara="1" rIns="116225" wrap="square" tIns="581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53"/>
                <a:buFont typeface="Calibri"/>
                <a:buNone/>
              </a:pPr>
              <a: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AI Server</a:t>
              </a:r>
              <a:br>
                <a:rPr b="1" i="0" lang="en-US" sz="3051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0" i="0" lang="en-US" sz="2606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RAG Engine</a:t>
              </a:r>
              <a:endParaRPr b="0" i="0" sz="30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8" name="Google Shape;188;g3ecdb636970_1_215"/>
          <p:cNvCxnSpPr/>
          <p:nvPr/>
        </p:nvCxnSpPr>
        <p:spPr>
          <a:xfrm>
            <a:off x="10515600" y="2332815"/>
            <a:ext cx="0" cy="38406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89" name="Google Shape;189;g3ecdb636970_1_215"/>
          <p:cNvSpPr/>
          <p:nvPr/>
        </p:nvSpPr>
        <p:spPr>
          <a:xfrm>
            <a:off x="1920240" y="2680287"/>
            <a:ext cx="42978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ecdb636970_1_215"/>
          <p:cNvSpPr/>
          <p:nvPr/>
        </p:nvSpPr>
        <p:spPr>
          <a:xfrm>
            <a:off x="1920240" y="241511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1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① 분석 요청 (log + request_uid)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ecdb636970_1_215"/>
          <p:cNvSpPr/>
          <p:nvPr/>
        </p:nvSpPr>
        <p:spPr>
          <a:xfrm>
            <a:off x="6217920" y="3228927"/>
            <a:ext cx="42978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ecdb636970_1_215"/>
          <p:cNvSpPr/>
          <p:nvPr/>
        </p:nvSpPr>
        <p:spPr>
          <a:xfrm>
            <a:off x="6217920" y="296375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50"/>
              <a:buFont typeface="Calibri"/>
              <a:buNone/>
            </a:pPr>
            <a:r>
              <a:rPr b="1" i="0" lang="en-US" sz="1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② 작업 위임 (비동기 task 등록)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ecdb636970_1_215"/>
          <p:cNvSpPr/>
          <p:nvPr/>
        </p:nvSpPr>
        <p:spPr>
          <a:xfrm>
            <a:off x="6126480" y="3475815"/>
            <a:ext cx="4617600" cy="1371600"/>
          </a:xfrm>
          <a:prstGeom prst="roundRect">
            <a:avLst>
              <a:gd fmla="val 3333" name="adj"/>
            </a:avLst>
          </a:prstGeom>
          <a:solidFill>
            <a:srgbClr val="F4F8F4"/>
          </a:solidFill>
          <a:ln cap="flat" cmpd="sng" w="12700">
            <a:solidFill>
              <a:srgbClr val="1E8449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ecdb636970_1_215"/>
          <p:cNvSpPr/>
          <p:nvPr/>
        </p:nvSpPr>
        <p:spPr>
          <a:xfrm>
            <a:off x="6172200" y="3503247"/>
            <a:ext cx="4480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1E8449"/>
                </a:solidFill>
                <a:latin typeface="Consolas"/>
                <a:ea typeface="Consolas"/>
                <a:cs typeface="Consolas"/>
                <a:sym typeface="Consolas"/>
              </a:rPr>
              <a:t>loop  [결과 나올 때까지 polling]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ecdb636970_1_215"/>
          <p:cNvSpPr/>
          <p:nvPr/>
        </p:nvSpPr>
        <p:spPr>
          <a:xfrm>
            <a:off x="6217920" y="4097607"/>
            <a:ext cx="4297800" cy="109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ecdb636970_1_215"/>
          <p:cNvSpPr/>
          <p:nvPr/>
        </p:nvSpPr>
        <p:spPr>
          <a:xfrm>
            <a:off x="6217920" y="383243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50"/>
              <a:buFont typeface="Calibri"/>
              <a:buNone/>
            </a:pPr>
            <a:r>
              <a:rPr b="1" i="0" lang="en-US" sz="1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③ GET /status (주기 2s)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3ecdb636970_1_215"/>
          <p:cNvSpPr/>
          <p:nvPr/>
        </p:nvSpPr>
        <p:spPr>
          <a:xfrm>
            <a:off x="6217920" y="4600527"/>
            <a:ext cx="4297800" cy="10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5A5A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cdb636970_1_215"/>
          <p:cNvSpPr/>
          <p:nvPr/>
        </p:nvSpPr>
        <p:spPr>
          <a:xfrm>
            <a:off x="6217920" y="433535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950"/>
              <a:buFont typeface="Calibri"/>
              <a:buNone/>
            </a:pPr>
            <a:r>
              <a:rPr b="1" i="0" lang="en-US" sz="15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pending / done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ecdb636970_1_215"/>
          <p:cNvSpPr/>
          <p:nvPr/>
        </p:nvSpPr>
        <p:spPr>
          <a:xfrm>
            <a:off x="6217920" y="5514927"/>
            <a:ext cx="4297800" cy="10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ecdb636970_1_215"/>
          <p:cNvSpPr/>
          <p:nvPr/>
        </p:nvSpPr>
        <p:spPr>
          <a:xfrm>
            <a:off x="6217920" y="524975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8449"/>
              </a:buClr>
              <a:buSzPts val="950"/>
              <a:buFont typeface="Calibri"/>
              <a:buNone/>
            </a:pPr>
            <a:r>
              <a:rPr b="1" i="0" lang="en-US" sz="1750" u="none" cap="none" strike="noStrike">
                <a:solidFill>
                  <a:srgbClr val="1E8449"/>
                </a:solidFill>
                <a:latin typeface="Calibri"/>
                <a:ea typeface="Calibri"/>
                <a:cs typeface="Calibri"/>
                <a:sym typeface="Calibri"/>
              </a:rPr>
              <a:t>④ 결과 반환 (diagnosis JSON)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g3ecdb636970_1_215"/>
          <p:cNvSpPr/>
          <p:nvPr/>
        </p:nvSpPr>
        <p:spPr>
          <a:xfrm>
            <a:off x="1920240" y="6063567"/>
            <a:ext cx="4297800" cy="1098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ecdb636970_1_215"/>
          <p:cNvSpPr/>
          <p:nvPr/>
        </p:nvSpPr>
        <p:spPr>
          <a:xfrm>
            <a:off x="1920240" y="5798391"/>
            <a:ext cx="4297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50"/>
              <a:buFont typeface="Calibri"/>
              <a:buNone/>
            </a:pPr>
            <a:r>
              <a:rPr b="1" i="0" lang="en-US" sz="175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⑤ 응답 반환 (request_uid 매칭)</a:t>
            </a:r>
            <a:endParaRPr b="0" i="0" sz="1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cdb636970_1_83"/>
          <p:cNvSpPr/>
          <p:nvPr/>
        </p:nvSpPr>
        <p:spPr>
          <a:xfrm>
            <a:off x="0" y="0"/>
            <a:ext cx="12191700" cy="1647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ecdb636970_1_83"/>
          <p:cNvSpPr/>
          <p:nvPr/>
        </p:nvSpPr>
        <p:spPr>
          <a:xfrm>
            <a:off x="502920" y="384048"/>
            <a:ext cx="1115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8B1A1A"/>
                </a:solidFill>
                <a:latin typeface="Georgia"/>
                <a:ea typeface="Georgia"/>
                <a:cs typeface="Georgia"/>
                <a:sym typeface="Georgia"/>
              </a:rPr>
              <a:t>구현 방법론 #2 - 백엔드 DB 스키마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ecdb636970_1_83"/>
          <p:cNvSpPr/>
          <p:nvPr/>
        </p:nvSpPr>
        <p:spPr>
          <a:xfrm>
            <a:off x="502920" y="1600200"/>
            <a:ext cx="3657600" cy="3108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0" name="Google Shape;210;g3ecdb636970_1_83"/>
          <p:cNvSpPr/>
          <p:nvPr/>
        </p:nvSpPr>
        <p:spPr>
          <a:xfrm>
            <a:off x="502920" y="1600200"/>
            <a:ext cx="365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users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ecdb636970_1_83"/>
          <p:cNvSpPr/>
          <p:nvPr/>
        </p:nvSpPr>
        <p:spPr>
          <a:xfrm>
            <a:off x="502920" y="1911096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2" name="Google Shape;212;g3ecdb636970_1_83"/>
          <p:cNvSpPr/>
          <p:nvPr/>
        </p:nvSpPr>
        <p:spPr>
          <a:xfrm>
            <a:off x="612648" y="1911096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Consolas"/>
                <a:ea typeface="Consolas"/>
                <a:cs typeface="Consolas"/>
                <a:sym typeface="Consolas"/>
              </a:rPr>
              <a:t>PK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3ecdb636970_1_83"/>
          <p:cNvSpPr/>
          <p:nvPr/>
        </p:nvSpPr>
        <p:spPr>
          <a:xfrm>
            <a:off x="502920" y="2221992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4" name="Google Shape;214;g3ecdb636970_1_83"/>
          <p:cNvSpPr/>
          <p:nvPr/>
        </p:nvSpPr>
        <p:spPr>
          <a:xfrm>
            <a:off x="612648" y="2221992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username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g3ecdb636970_1_83"/>
          <p:cNvSpPr/>
          <p:nvPr/>
        </p:nvSpPr>
        <p:spPr>
          <a:xfrm>
            <a:off x="502920" y="2532888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6" name="Google Shape;216;g3ecdb636970_1_83"/>
          <p:cNvSpPr/>
          <p:nvPr/>
        </p:nvSpPr>
        <p:spPr>
          <a:xfrm>
            <a:off x="612648" y="2532888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created_at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g3ecdb636970_1_83"/>
          <p:cNvSpPr/>
          <p:nvPr/>
        </p:nvSpPr>
        <p:spPr>
          <a:xfrm>
            <a:off x="4617720" y="1600200"/>
            <a:ext cx="3657600" cy="310800"/>
          </a:xfrm>
          <a:prstGeom prst="rect">
            <a:avLst/>
          </a:prstGeom>
          <a:solidFill>
            <a:srgbClr val="D983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8" name="Google Shape;218;g3ecdb636970_1_83"/>
          <p:cNvSpPr/>
          <p:nvPr/>
        </p:nvSpPr>
        <p:spPr>
          <a:xfrm>
            <a:off x="4617720" y="1600200"/>
            <a:ext cx="365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analysis_request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g3ecdb636970_1_83"/>
          <p:cNvSpPr/>
          <p:nvPr/>
        </p:nvSpPr>
        <p:spPr>
          <a:xfrm>
            <a:off x="4617720" y="1911096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0" name="Google Shape;220;g3ecdb636970_1_83"/>
          <p:cNvSpPr/>
          <p:nvPr/>
        </p:nvSpPr>
        <p:spPr>
          <a:xfrm>
            <a:off x="4727448" y="1911096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Consolas"/>
                <a:ea typeface="Consolas"/>
                <a:cs typeface="Consolas"/>
                <a:sym typeface="Consolas"/>
              </a:rPr>
              <a:t>PK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g3ecdb636970_1_83"/>
          <p:cNvSpPr/>
          <p:nvPr/>
        </p:nvSpPr>
        <p:spPr>
          <a:xfrm>
            <a:off x="4617720" y="2221992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2" name="Google Shape;222;g3ecdb636970_1_83"/>
          <p:cNvSpPr/>
          <p:nvPr/>
        </p:nvSpPr>
        <p:spPr>
          <a:xfrm>
            <a:off x="4727448" y="2221992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B4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2E6DB4"/>
                </a:solidFill>
                <a:latin typeface="Consolas"/>
                <a:ea typeface="Consolas"/>
                <a:cs typeface="Consolas"/>
                <a:sym typeface="Consolas"/>
              </a:rPr>
              <a:t>FK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user_id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ecdb636970_1_83"/>
          <p:cNvSpPr/>
          <p:nvPr/>
        </p:nvSpPr>
        <p:spPr>
          <a:xfrm>
            <a:off x="4617720" y="2532888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4" name="Google Shape;224;g3ecdb636970_1_83"/>
          <p:cNvSpPr/>
          <p:nvPr/>
        </p:nvSpPr>
        <p:spPr>
          <a:xfrm>
            <a:off x="4727448" y="2532888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raw_log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TEXT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g3ecdb636970_1_83"/>
          <p:cNvSpPr/>
          <p:nvPr/>
        </p:nvSpPr>
        <p:spPr>
          <a:xfrm>
            <a:off x="4617720" y="2843784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6" name="Google Shape;226;g3ecdb636970_1_83"/>
          <p:cNvSpPr/>
          <p:nvPr/>
        </p:nvSpPr>
        <p:spPr>
          <a:xfrm>
            <a:off x="4727448" y="2843784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status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g3ecdb636970_1_83"/>
          <p:cNvSpPr/>
          <p:nvPr/>
        </p:nvSpPr>
        <p:spPr>
          <a:xfrm>
            <a:off x="4617720" y="3154680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28" name="Google Shape;228;g3ecdb636970_1_83"/>
          <p:cNvSpPr/>
          <p:nvPr/>
        </p:nvSpPr>
        <p:spPr>
          <a:xfrm>
            <a:off x="4727448" y="3154680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request_uid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ecdb636970_1_83"/>
          <p:cNvSpPr/>
          <p:nvPr/>
        </p:nvSpPr>
        <p:spPr>
          <a:xfrm>
            <a:off x="4617720" y="3465576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0" name="Google Shape;230;g3ecdb636970_1_83"/>
          <p:cNvSpPr/>
          <p:nvPr/>
        </p:nvSpPr>
        <p:spPr>
          <a:xfrm>
            <a:off x="4727448" y="3465576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created_at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TIMESTAMP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g3ecdb636970_1_83"/>
          <p:cNvSpPr/>
          <p:nvPr/>
        </p:nvSpPr>
        <p:spPr>
          <a:xfrm>
            <a:off x="8732520" y="1600200"/>
            <a:ext cx="2926200" cy="31080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2" name="Google Shape;232;g3ecdb636970_1_83"/>
          <p:cNvSpPr/>
          <p:nvPr/>
        </p:nvSpPr>
        <p:spPr>
          <a:xfrm>
            <a:off x="8732520" y="1600200"/>
            <a:ext cx="29262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analysis_result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ecdb636970_1_83"/>
          <p:cNvSpPr/>
          <p:nvPr/>
        </p:nvSpPr>
        <p:spPr>
          <a:xfrm>
            <a:off x="8732520" y="1911096"/>
            <a:ext cx="29262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4" name="Google Shape;234;g3ecdb636970_1_83"/>
          <p:cNvSpPr/>
          <p:nvPr/>
        </p:nvSpPr>
        <p:spPr>
          <a:xfrm>
            <a:off x="8842248" y="1911096"/>
            <a:ext cx="270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Consolas"/>
                <a:ea typeface="Consolas"/>
                <a:cs typeface="Consolas"/>
                <a:sym typeface="Consolas"/>
              </a:rPr>
              <a:t>PK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ecdb636970_1_83"/>
          <p:cNvSpPr/>
          <p:nvPr/>
        </p:nvSpPr>
        <p:spPr>
          <a:xfrm>
            <a:off x="8732520" y="2221992"/>
            <a:ext cx="2926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6" name="Google Shape;236;g3ecdb636970_1_83"/>
          <p:cNvSpPr/>
          <p:nvPr/>
        </p:nvSpPr>
        <p:spPr>
          <a:xfrm>
            <a:off x="8842248" y="2221992"/>
            <a:ext cx="270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B4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2E6DB4"/>
                </a:solidFill>
                <a:latin typeface="Consolas"/>
                <a:ea typeface="Consolas"/>
                <a:cs typeface="Consolas"/>
                <a:sym typeface="Consolas"/>
              </a:rPr>
              <a:t>FK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request_id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ecdb636970_1_83"/>
          <p:cNvSpPr/>
          <p:nvPr/>
        </p:nvSpPr>
        <p:spPr>
          <a:xfrm>
            <a:off x="8732520" y="2532888"/>
            <a:ext cx="29262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38" name="Google Shape;238;g3ecdb636970_1_83"/>
          <p:cNvSpPr/>
          <p:nvPr/>
        </p:nvSpPr>
        <p:spPr>
          <a:xfrm>
            <a:off x="8842248" y="2532888"/>
            <a:ext cx="270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oom_type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ecdb636970_1_83"/>
          <p:cNvSpPr/>
          <p:nvPr/>
        </p:nvSpPr>
        <p:spPr>
          <a:xfrm>
            <a:off x="8732520" y="2843784"/>
            <a:ext cx="29262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0" name="Google Shape;240;g3ecdb636970_1_83"/>
          <p:cNvSpPr/>
          <p:nvPr/>
        </p:nvSpPr>
        <p:spPr>
          <a:xfrm>
            <a:off x="8842248" y="2843784"/>
            <a:ext cx="270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diagnosis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ecdb636970_1_83"/>
          <p:cNvSpPr/>
          <p:nvPr/>
        </p:nvSpPr>
        <p:spPr>
          <a:xfrm>
            <a:off x="8732520" y="3154680"/>
            <a:ext cx="29262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2" name="Google Shape;242;g3ecdb636970_1_83"/>
          <p:cNvSpPr/>
          <p:nvPr/>
        </p:nvSpPr>
        <p:spPr>
          <a:xfrm>
            <a:off x="8842248" y="3154680"/>
            <a:ext cx="2706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latency_ms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g3ecdb636970_1_83"/>
          <p:cNvSpPr/>
          <p:nvPr/>
        </p:nvSpPr>
        <p:spPr>
          <a:xfrm>
            <a:off x="4617720" y="4343400"/>
            <a:ext cx="3657600" cy="310800"/>
          </a:xfrm>
          <a:prstGeom prst="rect">
            <a:avLst/>
          </a:prstGeom>
          <a:solidFill>
            <a:srgbClr val="2E6DB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4" name="Google Shape;244;g3ecdb636970_1_83"/>
          <p:cNvSpPr/>
          <p:nvPr/>
        </p:nvSpPr>
        <p:spPr>
          <a:xfrm>
            <a:off x="4617720" y="4343400"/>
            <a:ext cx="36576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tool_invocation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g3ecdb636970_1_83"/>
          <p:cNvSpPr/>
          <p:nvPr/>
        </p:nvSpPr>
        <p:spPr>
          <a:xfrm>
            <a:off x="4617720" y="4654296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6" name="Google Shape;246;g3ecdb636970_1_83"/>
          <p:cNvSpPr/>
          <p:nvPr/>
        </p:nvSpPr>
        <p:spPr>
          <a:xfrm>
            <a:off x="4727448" y="4654296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8B1A1A"/>
                </a:solidFill>
                <a:latin typeface="Consolas"/>
                <a:ea typeface="Consolas"/>
                <a:cs typeface="Consolas"/>
                <a:sym typeface="Consolas"/>
              </a:rPr>
              <a:t>PK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g3ecdb636970_1_83"/>
          <p:cNvSpPr/>
          <p:nvPr/>
        </p:nvSpPr>
        <p:spPr>
          <a:xfrm>
            <a:off x="4617720" y="4965192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48" name="Google Shape;248;g3ecdb636970_1_83"/>
          <p:cNvSpPr/>
          <p:nvPr/>
        </p:nvSpPr>
        <p:spPr>
          <a:xfrm>
            <a:off x="4727448" y="4965192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6DB4"/>
              </a:buClr>
              <a:buSzPts val="950"/>
              <a:buFont typeface="Consolas"/>
              <a:buNone/>
            </a:pPr>
            <a:r>
              <a:rPr b="1" i="0" lang="en-US" sz="1550" u="none" cap="none" strike="noStrike">
                <a:solidFill>
                  <a:srgbClr val="2E6DB4"/>
                </a:solidFill>
                <a:latin typeface="Consolas"/>
                <a:ea typeface="Consolas"/>
                <a:cs typeface="Consolas"/>
                <a:sym typeface="Consolas"/>
              </a:rPr>
              <a:t>FK  </a:t>
            </a: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request_id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BIGINT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3ecdb636970_1_83"/>
          <p:cNvSpPr/>
          <p:nvPr/>
        </p:nvSpPr>
        <p:spPr>
          <a:xfrm>
            <a:off x="4617720" y="5276088"/>
            <a:ext cx="3657600" cy="3108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0" name="Google Shape;250;g3ecdb636970_1_83"/>
          <p:cNvSpPr/>
          <p:nvPr/>
        </p:nvSpPr>
        <p:spPr>
          <a:xfrm>
            <a:off x="4727448" y="5276088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tool_name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VARCHAR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ecdb636970_1_83"/>
          <p:cNvSpPr/>
          <p:nvPr/>
        </p:nvSpPr>
        <p:spPr>
          <a:xfrm>
            <a:off x="4617720" y="5586984"/>
            <a:ext cx="3657600" cy="310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2" name="Google Shape;252;g3ecdb636970_1_83"/>
          <p:cNvSpPr/>
          <p:nvPr/>
        </p:nvSpPr>
        <p:spPr>
          <a:xfrm>
            <a:off x="4727448" y="5586984"/>
            <a:ext cx="3438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B2B2B"/>
              </a:buClr>
              <a:buSzPts val="1050"/>
              <a:buFont typeface="Consolas"/>
              <a:buNone/>
            </a:pPr>
            <a:r>
              <a:rPr b="1" i="0" lang="en-US" sz="1650" u="none" cap="none" strike="noStrike">
                <a:solidFill>
                  <a:srgbClr val="2B2B2B"/>
                </a:solidFill>
                <a:latin typeface="Consolas"/>
                <a:ea typeface="Consolas"/>
                <a:cs typeface="Consolas"/>
                <a:sym typeface="Consolas"/>
              </a:rPr>
              <a:t>result  </a:t>
            </a:r>
            <a:r>
              <a:rPr b="0" i="0" lang="en-US" sz="1550" u="none" cap="none" strike="noStrike">
                <a:solidFill>
                  <a:srgbClr val="5A5A5A"/>
                </a:solidFill>
                <a:latin typeface="Consolas"/>
                <a:ea typeface="Consolas"/>
                <a:cs typeface="Consolas"/>
                <a:sym typeface="Consolas"/>
              </a:rPr>
              <a:t>JSON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ecdb636970_1_83"/>
          <p:cNvSpPr/>
          <p:nvPr/>
        </p:nvSpPr>
        <p:spPr>
          <a:xfrm>
            <a:off x="4160520" y="2331720"/>
            <a:ext cx="4572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4" name="Google Shape;254;g3ecdb636970_1_83"/>
          <p:cNvSpPr/>
          <p:nvPr/>
        </p:nvSpPr>
        <p:spPr>
          <a:xfrm>
            <a:off x="3977640" y="1993392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g3ecdb636970_1_83"/>
          <p:cNvSpPr/>
          <p:nvPr/>
        </p:nvSpPr>
        <p:spPr>
          <a:xfrm>
            <a:off x="8275320" y="2331720"/>
            <a:ext cx="457200" cy="16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6" name="Google Shape;256;g3ecdb636970_1_83"/>
          <p:cNvSpPr/>
          <p:nvPr/>
        </p:nvSpPr>
        <p:spPr>
          <a:xfrm>
            <a:off x="8092440" y="1993392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 :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g3ecdb636970_1_83"/>
          <p:cNvSpPr/>
          <p:nvPr/>
        </p:nvSpPr>
        <p:spPr>
          <a:xfrm>
            <a:off x="6309360" y="3816571"/>
            <a:ext cx="164700" cy="4572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58" name="Google Shape;258;g3ecdb636970_1_83"/>
          <p:cNvSpPr/>
          <p:nvPr/>
        </p:nvSpPr>
        <p:spPr>
          <a:xfrm>
            <a:off x="6537960" y="3887458"/>
            <a:ext cx="82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900"/>
              <a:buFont typeface="Calibri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1 : 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oogle Shape;263;p10"/>
          <p:cNvGrpSpPr/>
          <p:nvPr/>
        </p:nvGrpSpPr>
        <p:grpSpPr>
          <a:xfrm>
            <a:off x="689924" y="1858406"/>
            <a:ext cx="10812152" cy="3238169"/>
            <a:chOff x="319975" y="1527795"/>
            <a:chExt cx="8686805" cy="2377500"/>
          </a:xfrm>
        </p:grpSpPr>
        <p:sp>
          <p:nvSpPr>
            <p:cNvPr id="264" name="Google Shape;264;p10"/>
            <p:cNvSpPr/>
            <p:nvPr/>
          </p:nvSpPr>
          <p:spPr>
            <a:xfrm>
              <a:off x="320040" y="1527795"/>
              <a:ext cx="1965900" cy="2377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320040" y="1527795"/>
              <a:ext cx="1965900" cy="73200"/>
            </a:xfrm>
            <a:prstGeom prst="rect">
              <a:avLst/>
            </a:prstGeom>
            <a:solidFill>
              <a:srgbClr val="1B9E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319975" y="1710675"/>
              <a:ext cx="1965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B9E8C"/>
                </a:buClr>
                <a:buSzPts val="1000"/>
                <a:buFont typeface="Arial"/>
                <a:buNone/>
              </a:pPr>
              <a:r>
                <a:rPr b="1" i="0" lang="en-US" sz="2900" u="none" cap="none" strike="noStrike">
                  <a:solidFill>
                    <a:srgbClr val="1B9E8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Node 1</a:t>
              </a:r>
              <a:endParaRPr b="0" i="0" sz="2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457200" y="2514420"/>
              <a:ext cx="16917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 파싱</a:t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457200" y="3303060"/>
              <a:ext cx="1691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코드 (정규식)</a:t>
              </a:r>
              <a:endParaRPr b="1" i="0" sz="2100" u="none" cap="none" strike="noStrike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2560320" y="1527795"/>
              <a:ext cx="1965900" cy="2377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2560320" y="1527795"/>
              <a:ext cx="1965900" cy="73200"/>
            </a:xfrm>
            <a:prstGeom prst="rect">
              <a:avLst/>
            </a:prstGeom>
            <a:solidFill>
              <a:srgbClr val="4A72B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2560201" y="1710675"/>
              <a:ext cx="1965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A72B0"/>
                </a:buClr>
                <a:buSzPts val="1000"/>
                <a:buFont typeface="Arial"/>
                <a:buNone/>
              </a:pPr>
              <a:r>
                <a:rPr b="1" i="0" lang="en-US" sz="2900" u="none" cap="none" strike="noStrike">
                  <a:solidFill>
                    <a:srgbClr val="4A72B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Node 2</a:t>
              </a:r>
              <a:endParaRPr b="0" i="0" sz="2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2560200" y="2350623"/>
              <a:ext cx="19659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유형 분류</a:t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+ 도구 선택</a:t>
              </a:r>
              <a:endParaRPr b="1" i="0" sz="2700" u="none" cap="none" strike="noStrike">
                <a:solidFill>
                  <a:srgbClr val="2D2D2D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2697480" y="3303060"/>
              <a:ext cx="1691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LLM 호출</a:t>
              </a:r>
              <a:b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i="0" lang="en-US" sz="2100" u="none" cap="none" strike="noStrike">
                  <a:solidFill>
                    <a:srgbClr val="4A72B0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메타데이터</a:t>
              </a: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입력</a:t>
              </a:r>
              <a:endParaRPr b="1" i="0" sz="2100" u="none" cap="none" strike="noStrike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4800600" y="1527795"/>
              <a:ext cx="1965900" cy="2377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4800600" y="1527795"/>
              <a:ext cx="1965900" cy="73200"/>
            </a:xfrm>
            <a:prstGeom prst="rect">
              <a:avLst/>
            </a:prstGeom>
            <a:solidFill>
              <a:srgbClr val="E891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4800474" y="1710675"/>
              <a:ext cx="1965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E8910C"/>
                </a:buClr>
                <a:buSzPts val="1000"/>
                <a:buFont typeface="Arial"/>
                <a:buNone/>
              </a:pPr>
              <a:r>
                <a:rPr b="1" i="0" lang="en-US" sz="2900" u="none" cap="none" strike="noStrike">
                  <a:solidFill>
                    <a:srgbClr val="E8910C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Node 3</a:t>
              </a:r>
              <a:endParaRPr b="0" i="0" sz="2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7" name="Google Shape;277;p10"/>
            <p:cNvSpPr/>
            <p:nvPr/>
          </p:nvSpPr>
          <p:spPr>
            <a:xfrm>
              <a:off x="4937760" y="2350623"/>
              <a:ext cx="16917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도구 실행</a:t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(4개 도구)</a:t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8" name="Google Shape;278;p10"/>
            <p:cNvSpPr/>
            <p:nvPr/>
          </p:nvSpPr>
          <p:spPr>
            <a:xfrm>
              <a:off x="4937760" y="3303060"/>
              <a:ext cx="1691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코드 기반</a:t>
              </a:r>
              <a:endParaRPr b="1" i="0" sz="2100" u="none" cap="none" strike="noStrike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79" name="Google Shape;279;p10"/>
            <p:cNvSpPr/>
            <p:nvPr/>
          </p:nvSpPr>
          <p:spPr>
            <a:xfrm>
              <a:off x="7040880" y="1527795"/>
              <a:ext cx="1965900" cy="2377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101600" rotWithShape="0" algn="bl" dir="8100000" dist="25400">
                <a:srgbClr val="000000">
                  <a:alpha val="1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80" name="Google Shape;280;p10"/>
            <p:cNvSpPr/>
            <p:nvPr/>
          </p:nvSpPr>
          <p:spPr>
            <a:xfrm>
              <a:off x="7040880" y="1527795"/>
              <a:ext cx="1965900" cy="73200"/>
            </a:xfrm>
            <a:prstGeom prst="rect">
              <a:avLst/>
            </a:prstGeom>
            <a:solidFill>
              <a:srgbClr val="7B5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81" name="Google Shape;281;p10"/>
            <p:cNvSpPr/>
            <p:nvPr/>
          </p:nvSpPr>
          <p:spPr>
            <a:xfrm>
              <a:off x="7040749" y="1710675"/>
              <a:ext cx="1965900" cy="33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B5EA7"/>
                </a:buClr>
                <a:buSzPts val="1000"/>
                <a:buFont typeface="Arial"/>
                <a:buNone/>
              </a:pPr>
              <a:r>
                <a:rPr b="1" i="0" lang="en-US" sz="2900" u="none" cap="none" strike="noStrike">
                  <a:solidFill>
                    <a:srgbClr val="7B5EA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Node 4</a:t>
              </a:r>
              <a:endParaRPr b="0" i="0" sz="29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82" name="Google Shape;282;p10"/>
            <p:cNvSpPr/>
            <p:nvPr/>
          </p:nvSpPr>
          <p:spPr>
            <a:xfrm>
              <a:off x="7040749" y="2350623"/>
              <a:ext cx="1965900" cy="73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종합 진단</a:t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rPr b="1" i="0" lang="en-US" sz="27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(CoT)</a:t>
              </a:r>
              <a:endParaRPr b="0" i="0" sz="20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D2D2D"/>
                </a:buClr>
                <a:buSzPts val="1400"/>
                <a:buFont typeface="Arial"/>
                <a:buNone/>
              </a:pPr>
              <a:r>
                <a:t/>
              </a:r>
              <a:endParaRPr b="0" i="0" sz="27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83" name="Google Shape;283;p10"/>
            <p:cNvSpPr/>
            <p:nvPr/>
          </p:nvSpPr>
          <p:spPr>
            <a:xfrm>
              <a:off x="7178040" y="3303060"/>
              <a:ext cx="16917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LLM 호출</a:t>
              </a:r>
              <a:endParaRPr b="1" i="0" sz="2100" u="none" cap="none" strike="noStrike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99999"/>
                </a:buClr>
                <a:buSzPts val="1000"/>
                <a:buFont typeface="Arial"/>
                <a:buNone/>
              </a:pPr>
              <a:r>
                <a:rPr b="1" i="0" lang="en-US" sz="2100" u="none" cap="none" strike="noStrike">
                  <a:solidFill>
                    <a:srgbClr val="7B5EA7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메타데이터</a:t>
              </a:r>
              <a:r>
                <a:rPr b="1" i="0" lang="en-US" sz="2100" u="none" cap="none" strike="noStrike">
                  <a:solidFill>
                    <a:srgbClr val="747474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입력</a:t>
              </a:r>
              <a:endParaRPr b="1" i="0" sz="2100" u="none" cap="none" strike="noStrike">
                <a:solidFill>
                  <a:srgbClr val="747474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284" name="Google Shape;284;p10"/>
          <p:cNvSpPr txBox="1"/>
          <p:nvPr/>
        </p:nvSpPr>
        <p:spPr>
          <a:xfrm>
            <a:off x="731520" y="497014"/>
            <a:ext cx="107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방법론 #3 - AI 파이프라인 구성</a:t>
            </a:r>
            <a:endParaRPr sz="3200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609600" y="243840"/>
            <a:ext cx="10972800" cy="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7"/>
              <a:buFont typeface="Arial"/>
              <a:buNone/>
            </a:pPr>
            <a:r>
              <a:t/>
            </a:r>
            <a:endParaRPr b="0" i="0" sz="3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11"/>
          <p:cNvGrpSpPr/>
          <p:nvPr/>
        </p:nvGrpSpPr>
        <p:grpSpPr>
          <a:xfrm>
            <a:off x="1584976" y="1130705"/>
            <a:ext cx="9477679" cy="5483455"/>
            <a:chOff x="2381613" y="1292312"/>
            <a:chExt cx="9477679" cy="5483455"/>
          </a:xfrm>
        </p:grpSpPr>
        <p:sp>
          <p:nvSpPr>
            <p:cNvPr id="292" name="Google Shape;292;p11"/>
            <p:cNvSpPr/>
            <p:nvPr/>
          </p:nvSpPr>
          <p:spPr>
            <a:xfrm>
              <a:off x="2381613" y="1360782"/>
              <a:ext cx="32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INPUT (text)</a:t>
              </a:r>
              <a:endPara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5790767" y="1292312"/>
              <a:ext cx="56084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OUTPUT (</a:t>
              </a:r>
              <a:r>
                <a:rPr b="1" i="0" lang="en-US" sz="2000" u="none" cap="none" strike="noStrike">
                  <a:solidFill>
                    <a:srgbClr val="8B1A1A"/>
                  </a:solidFill>
                  <a:latin typeface="Calibri"/>
                  <a:ea typeface="Calibri"/>
                  <a:cs typeface="Calibri"/>
                  <a:sym typeface="Calibri"/>
                </a:rPr>
                <a:t>parsed_fields dict</a:t>
              </a:r>
              <a:r>
                <a:rPr b="1" i="0" lang="en-US" sz="20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</a:t>
              </a:r>
              <a:endParaRPr b="0" i="0" sz="20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grpSp>
          <p:nvGrpSpPr>
            <p:cNvPr id="294" name="Google Shape;294;p11"/>
            <p:cNvGrpSpPr/>
            <p:nvPr/>
          </p:nvGrpSpPr>
          <p:grpSpPr>
            <a:xfrm>
              <a:off x="5885126" y="3474054"/>
              <a:ext cx="5974023" cy="1547050"/>
              <a:chOff x="3246120" y="3246120"/>
              <a:chExt cx="2587800" cy="1270156"/>
            </a:xfrm>
          </p:grpSpPr>
          <p:sp>
            <p:nvSpPr>
              <p:cNvPr id="295" name="Google Shape;295;p11"/>
              <p:cNvSpPr/>
              <p:nvPr/>
            </p:nvSpPr>
            <p:spPr>
              <a:xfrm>
                <a:off x="3246120" y="3281776"/>
                <a:ext cx="2587800" cy="1234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>
                <a:outerShdw blurRad="50800" rotWithShape="0" algn="bl" dir="8100000" dist="19050">
                  <a:srgbClr val="000000">
                    <a:alpha val="7843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11"/>
              <p:cNvSpPr/>
              <p:nvPr/>
            </p:nvSpPr>
            <p:spPr>
              <a:xfrm>
                <a:off x="3246120" y="3246120"/>
                <a:ext cx="2587800" cy="320100"/>
              </a:xfrm>
              <a:prstGeom prst="rect">
                <a:avLst/>
              </a:prstGeom>
              <a:solidFill>
                <a:srgbClr val="E8910C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7" name="Google Shape;297;p11"/>
              <p:cNvSpPr/>
              <p:nvPr/>
            </p:nvSpPr>
            <p:spPr>
              <a:xfrm>
                <a:off x="3288838" y="3253339"/>
                <a:ext cx="2496300" cy="32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메모리 상태</a:t>
                </a:r>
                <a:endParaRPr b="0" i="0" sz="20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298" name="Google Shape;298;p11"/>
              <p:cNvSpPr/>
              <p:nvPr/>
            </p:nvSpPr>
            <p:spPr>
              <a:xfrm>
                <a:off x="3337560" y="3812026"/>
                <a:ext cx="2404800" cy="5112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물리 RAM, Swap 사용량, Zone free/min</a:t>
                </a:r>
                <a:endParaRPr b="0" i="0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OOM 유형 판별용 필드</a:t>
                </a:r>
                <a:endParaRPr b="0" i="0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299" name="Google Shape;299;p11"/>
            <p:cNvGrpSpPr/>
            <p:nvPr/>
          </p:nvGrpSpPr>
          <p:grpSpPr>
            <a:xfrm>
              <a:off x="5884983" y="5207887"/>
              <a:ext cx="5974023" cy="1547049"/>
              <a:chOff x="6035040" y="3246120"/>
              <a:chExt cx="2587800" cy="1270156"/>
            </a:xfrm>
          </p:grpSpPr>
          <p:sp>
            <p:nvSpPr>
              <p:cNvPr id="300" name="Google Shape;300;p11"/>
              <p:cNvSpPr/>
              <p:nvPr/>
            </p:nvSpPr>
            <p:spPr>
              <a:xfrm>
                <a:off x="6035040" y="3281776"/>
                <a:ext cx="2587800" cy="1234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>
                <a:outerShdw blurRad="50800" rotWithShape="0" algn="bl" dir="8100000" dist="19050">
                  <a:srgbClr val="000000">
                    <a:alpha val="7843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1" name="Google Shape;301;p11"/>
              <p:cNvSpPr/>
              <p:nvPr/>
            </p:nvSpPr>
            <p:spPr>
              <a:xfrm>
                <a:off x="6035040" y="3246120"/>
                <a:ext cx="2587800" cy="320100"/>
              </a:xfrm>
              <a:prstGeom prst="rect">
                <a:avLst/>
              </a:prstGeom>
              <a:solidFill>
                <a:srgbClr val="4A72B0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2" name="Google Shape;302;p11"/>
              <p:cNvSpPr/>
              <p:nvPr/>
            </p:nvSpPr>
            <p:spPr>
              <a:xfrm>
                <a:off x="6080760" y="3247651"/>
                <a:ext cx="2496300" cy="32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cgroup</a:t>
                </a:r>
                <a:r>
                  <a:rPr b="1" i="0" lang="en-US" sz="20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/ 커널 정보</a:t>
                </a:r>
                <a:endParaRPr b="0" i="0" sz="20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303" name="Google Shape;303;p11"/>
              <p:cNvSpPr/>
              <p:nvPr/>
            </p:nvSpPr>
            <p:spPr>
              <a:xfrm>
                <a:off x="6126480" y="3790890"/>
                <a:ext cx="2404800" cy="5363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</a:t>
                </a: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cgroup</a:t>
                </a: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 OOM 시 경로/사용량/</a:t>
                </a: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limit</a:t>
                </a: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/</a:t>
                </a: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failcnt</a:t>
                </a:r>
                <a:endParaRPr b="0" i="0" sz="1800" u="none" cap="none" strike="noStrike">
                  <a:solidFill>
                    <a:srgbClr val="3A3A3A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커널 버전</a:t>
                </a:r>
                <a:endParaRPr b="0" i="0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grpSp>
          <p:nvGrpSpPr>
            <p:cNvPr id="304" name="Google Shape;304;p11"/>
            <p:cNvGrpSpPr/>
            <p:nvPr/>
          </p:nvGrpSpPr>
          <p:grpSpPr>
            <a:xfrm>
              <a:off x="2720913" y="1762066"/>
              <a:ext cx="2841113" cy="5013701"/>
              <a:chOff x="1309185" y="-3247144"/>
              <a:chExt cx="5724540" cy="10102075"/>
            </a:xfrm>
          </p:grpSpPr>
          <p:pic>
            <p:nvPicPr>
              <p:cNvPr id="305" name="Google Shape;305;p1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09200" y="-3247144"/>
                <a:ext cx="5724525" cy="727275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6" name="Google Shape;306;p1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09185" y="3978381"/>
                <a:ext cx="5724525" cy="28765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7" name="Google Shape;307;p11"/>
            <p:cNvGrpSpPr/>
            <p:nvPr/>
          </p:nvGrpSpPr>
          <p:grpSpPr>
            <a:xfrm>
              <a:off x="5885269" y="1735976"/>
              <a:ext cx="5974023" cy="1503621"/>
              <a:chOff x="457200" y="3246120"/>
              <a:chExt cx="2587800" cy="1234500"/>
            </a:xfrm>
          </p:grpSpPr>
          <p:sp>
            <p:nvSpPr>
              <p:cNvPr id="308" name="Google Shape;308;p11"/>
              <p:cNvSpPr/>
              <p:nvPr/>
            </p:nvSpPr>
            <p:spPr>
              <a:xfrm>
                <a:off x="457200" y="3246120"/>
                <a:ext cx="2587800" cy="1234500"/>
              </a:xfrm>
              <a:prstGeom prst="rect">
                <a:avLst/>
              </a:prstGeom>
              <a:solidFill>
                <a:srgbClr val="F5F5F5"/>
              </a:solidFill>
              <a:ln>
                <a:noFill/>
              </a:ln>
              <a:effectLst>
                <a:outerShdw blurRad="50800" rotWithShape="0" algn="bl" dir="8100000" dist="19050">
                  <a:srgbClr val="000000">
                    <a:alpha val="7843"/>
                  </a:srgbClr>
                </a:outerShdw>
              </a:effectLst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457200" y="3246120"/>
                <a:ext cx="2587800" cy="320100"/>
              </a:xfrm>
              <a:prstGeom prst="rect">
                <a:avLst/>
              </a:prstGeom>
              <a:solidFill>
                <a:srgbClr val="1B9E8C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267"/>
                  <a:buFont typeface="Arial"/>
                  <a:buNone/>
                </a:pPr>
                <a:r>
                  <a:t/>
                </a:r>
                <a:endParaRPr b="0" i="0" sz="22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502920" y="3246120"/>
                <a:ext cx="2496300" cy="32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FFFFFF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프로세스 정보</a:t>
                </a:r>
                <a:endParaRPr b="0" i="0" sz="2000" u="none" cap="none" strike="noStrike">
                  <a:solidFill>
                    <a:srgbClr val="000000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548640" y="3731953"/>
                <a:ext cx="2404800" cy="7028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OOM을 발동한 프로세스</a:t>
                </a:r>
                <a:endParaRPr b="0" i="0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733"/>
                  <a:buFont typeface="Arial"/>
                  <a:buNone/>
                </a:pPr>
                <a:r>
                  <a:rPr b="0" i="0" lang="en-US" sz="1733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˙ Kill 된 PID/이름/RSS, 전체 프로세스 목록</a:t>
                </a:r>
                <a:endParaRPr b="0" i="0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</p:grpSp>
      <p:sp>
        <p:nvSpPr>
          <p:cNvPr id="312" name="Google Shape;312;p11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Node 1 — 로그 파싱 (Rule-Based)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1150" y="1593525"/>
            <a:ext cx="2814650" cy="91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2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609600" y="243840"/>
            <a:ext cx="10972800" cy="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7"/>
              <a:buFont typeface="Arial"/>
              <a:buNone/>
            </a:pPr>
            <a:r>
              <a:t/>
            </a:r>
            <a:endParaRPr b="0" i="0" sz="3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Node 2 — 유형 분류 + 도구 선택 (LLM 호출)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p12"/>
          <p:cNvGrpSpPr/>
          <p:nvPr/>
        </p:nvGrpSpPr>
        <p:grpSpPr>
          <a:xfrm>
            <a:off x="389951" y="1303261"/>
            <a:ext cx="11412098" cy="5430006"/>
            <a:chOff x="609600" y="1303261"/>
            <a:chExt cx="11412098" cy="5430006"/>
          </a:xfrm>
        </p:grpSpPr>
        <p:sp>
          <p:nvSpPr>
            <p:cNvPr id="324" name="Google Shape;324;p12"/>
            <p:cNvSpPr/>
            <p:nvPr/>
          </p:nvSpPr>
          <p:spPr>
            <a:xfrm>
              <a:off x="609600" y="1714867"/>
              <a:ext cx="3657600" cy="5018400"/>
            </a:xfrm>
            <a:prstGeom prst="rect">
              <a:avLst/>
            </a:prstGeom>
            <a:solidFill>
              <a:srgbClr val="F0F4F8"/>
            </a:solidFill>
            <a:ln>
              <a:noFill/>
            </a:ln>
            <a:effectLst>
              <a:outerShdw blurRad="50800" rotWithShape="0" algn="bl" dir="8100000" dist="19050">
                <a:srgbClr val="000000">
                  <a:alpha val="7843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12"/>
            <p:cNvSpPr/>
            <p:nvPr/>
          </p:nvSpPr>
          <p:spPr>
            <a:xfrm>
              <a:off x="792467" y="1839300"/>
              <a:ext cx="3292000" cy="47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2D2D2D"/>
                  </a:solidFill>
                  <a:latin typeface="Consolas"/>
                  <a:ea typeface="Consolas"/>
                  <a:cs typeface="Consolas"/>
                  <a:sym typeface="Consolas"/>
                </a:rPr>
                <a:t>parsed_fields</a:t>
              </a:r>
              <a:endParaRPr b="0" i="0" sz="20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Node 1이 추출한 구조화 </a:t>
              </a:r>
              <a:b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필드 전체</a:t>
              </a:r>
              <a:b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br>
                <a:rPr b="0" i="0" lang="en-US" sz="2000" u="none" cap="none" strike="noStrike">
                  <a:solidFill>
                    <a:srgbClr val="5A5A5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i="0" lang="en-US" sz="2000" u="none" cap="none" strike="noStrike">
                  <a:solidFill>
                    <a:srgbClr val="2D2D2D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available_tools </a:t>
              </a:r>
              <a:r>
                <a:rPr b="1" i="0" lang="en-US" sz="20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확인</a:t>
              </a:r>
              <a:endPara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parsed_fields의 결과에 따라</a:t>
              </a:r>
              <a:b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사용할 수 있는 도구를 ‘코드’로 </a:t>
              </a:r>
              <a:b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추출</a:t>
              </a:r>
              <a:br>
                <a:rPr b="0" i="0" lang="en-US" sz="2000" u="none" cap="none" strike="noStrike">
                  <a:solidFill>
                    <a:srgbClr val="5A5A5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73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(ex)</a:t>
              </a:r>
              <a:r>
                <a:rPr b="0" i="0" lang="en-US" sz="1733" u="none" cap="none" strike="noStrike">
                  <a:solidFill>
                    <a:srgbClr val="5A5A5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</a:t>
              </a:r>
              <a:r>
                <a:rPr b="0" i="0" lang="en-US" sz="1733" u="none" cap="none" strike="noStrike">
                  <a:solidFill>
                    <a:srgbClr val="188038"/>
                  </a:solidFill>
                  <a:latin typeface="Consolas"/>
                  <a:ea typeface="Consolas"/>
                  <a:cs typeface="Consolas"/>
                  <a:sym typeface="Consolas"/>
                </a:rPr>
                <a:t>process_table</a:t>
              </a:r>
              <a:r>
                <a:rPr b="0" i="0" lang="en-US" sz="1733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0" lang="en-US" sz="1733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8개 ≥ 2</a:t>
              </a:r>
              <a:br>
                <a:rPr b="0" i="0" lang="en-US" sz="1733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0" i="0" lang="en-US" sz="1733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→ </a:t>
              </a:r>
              <a:r>
                <a:rPr b="0" i="0" lang="en-US" sz="1733" u="none" cap="none" strike="noStrike">
                  <a:solidFill>
                    <a:srgbClr val="188038"/>
                  </a:solidFill>
                  <a:latin typeface="Consolas"/>
                  <a:ea typeface="Consolas"/>
                  <a:cs typeface="Consolas"/>
                  <a:sym typeface="Consolas"/>
                </a:rPr>
                <a:t>memory_calculator</a:t>
              </a:r>
              <a:r>
                <a:rPr b="0" i="0" lang="en-US" sz="1733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b="0" i="0" lang="en-US" sz="1800" u="none" cap="none" strike="noStrike">
                  <a:solidFill>
                    <a:schemeClr val="dk1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포함</a:t>
              </a:r>
              <a:endParaRPr b="0" i="0" sz="18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1" i="0" sz="16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2D2D2D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분류 프롬프트를 LLM에 입력</a:t>
              </a:r>
              <a:endPara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4유형 기준 + 도구 설명 + JSON 형식 지시 + </a:t>
              </a:r>
              <a:r>
                <a:rPr b="1" i="0" lang="en-US" sz="1800" u="none" cap="none" strike="noStrike">
                  <a:solidFill>
                    <a:schemeClr val="accent5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메타데이터</a:t>
              </a:r>
              <a:endParaRPr b="1" i="0" sz="18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6" name="Google Shape;326;p12"/>
            <p:cNvSpPr/>
            <p:nvPr/>
          </p:nvSpPr>
          <p:spPr>
            <a:xfrm>
              <a:off x="609613" y="1303261"/>
              <a:ext cx="32920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INPUT (Node 1 결과)</a:t>
              </a:r>
              <a:endParaRPr b="0" i="0" sz="20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sp>
          <p:nvSpPr>
            <p:cNvPr id="327" name="Google Shape;327;p12"/>
            <p:cNvSpPr/>
            <p:nvPr/>
          </p:nvSpPr>
          <p:spPr>
            <a:xfrm>
              <a:off x="5790767" y="1303261"/>
              <a:ext cx="5608400" cy="36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OUTPUT (</a:t>
              </a:r>
              <a:r>
                <a:rPr b="1" i="0" lang="en-US" sz="2000" u="none" cap="none" strike="noStrike">
                  <a:solidFill>
                    <a:srgbClr val="8B1A1A"/>
                  </a:solidFill>
                  <a:latin typeface="Calibri"/>
                  <a:ea typeface="Calibri"/>
                  <a:cs typeface="Calibri"/>
                  <a:sym typeface="Calibri"/>
                </a:rPr>
                <a:t>classification JSON</a:t>
              </a:r>
              <a:r>
                <a:rPr b="1" i="0" lang="en-US" sz="1800" u="none" cap="none" strike="noStrike">
                  <a:solidFill>
                    <a:srgbClr val="8B1A1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)</a:t>
              </a:r>
              <a:endParaRPr b="0" i="0" sz="18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  <p:pic>
          <p:nvPicPr>
            <p:cNvPr descr="preencoded.png" id="328" name="Google Shape;328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2251724" y="2964873"/>
              <a:ext cx="186676" cy="186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2"/>
            <p:cNvPicPr preferRelativeResize="0"/>
            <p:nvPr/>
          </p:nvPicPr>
          <p:blipFill rotWithShape="1">
            <a:blip r:embed="rId4">
              <a:alphaModFix/>
            </a:blip>
            <a:srcRect b="0" l="0" r="14719" t="0"/>
            <a:stretch/>
          </p:blipFill>
          <p:spPr>
            <a:xfrm>
              <a:off x="4450067" y="1714867"/>
              <a:ext cx="7571631" cy="243064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0" name="Google Shape;330;p12"/>
            <p:cNvGrpSpPr/>
            <p:nvPr/>
          </p:nvGrpSpPr>
          <p:grpSpPr>
            <a:xfrm>
              <a:off x="4505485" y="4325185"/>
              <a:ext cx="6597787" cy="1806168"/>
              <a:chOff x="4516582" y="4415239"/>
              <a:chExt cx="6597787" cy="1806168"/>
            </a:xfrm>
          </p:grpSpPr>
          <p:sp>
            <p:nvSpPr>
              <p:cNvPr id="331" name="Google Shape;331;p12"/>
              <p:cNvSpPr/>
              <p:nvPr/>
            </p:nvSpPr>
            <p:spPr>
              <a:xfrm>
                <a:off x="4516582" y="4415239"/>
                <a:ext cx="4965967" cy="828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판단 결과 : </a:t>
                </a: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유형 분류 + 필요 도구 조합 </a:t>
                </a:r>
                <a:b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</a:b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+ KB 필요 여부를 JSON으로 반환</a:t>
                </a:r>
                <a:endParaRPr b="0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  <p:sp>
            <p:nvSpPr>
              <p:cNvPr id="332" name="Google Shape;332;p12"/>
              <p:cNvSpPr/>
              <p:nvPr/>
            </p:nvSpPr>
            <p:spPr>
              <a:xfrm>
                <a:off x="4516582" y="5392701"/>
                <a:ext cx="6597787" cy="8287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needs_kb</a:t>
                </a: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를 인자로 두어,</a:t>
                </a:r>
                <a:endParaRPr b="0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  <a:p>
                <a:pPr indent="0" lvl="0" marL="0" marR="0" rtl="0"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3A3A3A"/>
                    </a:solidFill>
                    <a:latin typeface="Noto Sans KR"/>
                    <a:ea typeface="Noto Sans KR"/>
                    <a:cs typeface="Noto Sans KR"/>
                    <a:sym typeface="Noto Sans KR"/>
                  </a:rPr>
                  <a:t>LLM이 답할 수 있으면 RAG 검색 없이 바로 답변</a:t>
                </a:r>
                <a:endParaRPr b="0" i="0" sz="2000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endParaRPr>
              </a:p>
            </p:txBody>
          </p:sp>
        </p:grpSp>
        <p:pic>
          <p:nvPicPr>
            <p:cNvPr descr="preencoded.png" id="333" name="Google Shape;33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rot="5400000">
              <a:off x="2251724" y="5299363"/>
              <a:ext cx="186676" cy="18667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609600" y="243840"/>
            <a:ext cx="10972800" cy="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7"/>
              <a:buFont typeface="Arial"/>
              <a:buNone/>
            </a:pPr>
            <a:r>
              <a:t/>
            </a:r>
            <a:endParaRPr b="0" i="0" sz="3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3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Node 3 — 분석 도구 상세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13"/>
          <p:cNvGrpSpPr/>
          <p:nvPr/>
        </p:nvGrpSpPr>
        <p:grpSpPr>
          <a:xfrm>
            <a:off x="219182" y="1191539"/>
            <a:ext cx="11363218" cy="5422621"/>
            <a:chOff x="609600" y="1361000"/>
            <a:chExt cx="11363218" cy="5422621"/>
          </a:xfrm>
        </p:grpSpPr>
        <p:sp>
          <p:nvSpPr>
            <p:cNvPr id="344" name="Google Shape;344;p13"/>
            <p:cNvSpPr/>
            <p:nvPr/>
          </p:nvSpPr>
          <p:spPr>
            <a:xfrm>
              <a:off x="7341218" y="3086323"/>
              <a:ext cx="4631600" cy="140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t/>
              </a:r>
              <a:endParaRPr b="0" i="0" sz="186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5" name="Google Shape;345;p13"/>
            <p:cNvGrpSpPr/>
            <p:nvPr/>
          </p:nvGrpSpPr>
          <p:grpSpPr>
            <a:xfrm>
              <a:off x="609600" y="1361000"/>
              <a:ext cx="11363218" cy="5422621"/>
              <a:chOff x="609600" y="1361000"/>
              <a:chExt cx="11363218" cy="5422621"/>
            </a:xfrm>
          </p:grpSpPr>
          <p:sp>
            <p:nvSpPr>
              <p:cNvPr id="346" name="Google Shape;346;p13"/>
              <p:cNvSpPr/>
              <p:nvPr/>
            </p:nvSpPr>
            <p:spPr>
              <a:xfrm>
                <a:off x="7341218" y="2885000"/>
                <a:ext cx="4631600" cy="365600"/>
              </a:xfrm>
              <a:prstGeom prst="rect">
                <a:avLst/>
              </a:prstGeom>
              <a:solidFill>
                <a:srgbClr val="3C3C3C"/>
              </a:solidFill>
              <a:ln>
                <a:noFill/>
              </a:ln>
            </p:spPr>
            <p:txBody>
              <a:bodyPr anchorCtr="0" anchor="ctr" bIns="121900" lIns="121900" spcFirstLastPara="1" rIns="121900" wrap="square" tIns="1219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67"/>
                  <a:buFont typeface="Arial"/>
                  <a:buNone/>
                </a:pPr>
                <a:r>
                  <a:t/>
                </a:r>
                <a:endParaRPr b="0" i="0" sz="1867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47" name="Google Shape;347;p13"/>
              <p:cNvGrpSpPr/>
              <p:nvPr/>
            </p:nvGrpSpPr>
            <p:grpSpPr>
              <a:xfrm>
                <a:off x="609600" y="1361000"/>
                <a:ext cx="11363218" cy="5422621"/>
                <a:chOff x="609600" y="1361000"/>
                <a:chExt cx="11363218" cy="5422621"/>
              </a:xfrm>
            </p:grpSpPr>
            <p:sp>
              <p:nvSpPr>
                <p:cNvPr id="348" name="Google Shape;348;p13"/>
                <p:cNvSpPr/>
                <p:nvPr/>
              </p:nvSpPr>
              <p:spPr>
                <a:xfrm>
                  <a:off x="7341218" y="1361000"/>
                  <a:ext cx="4631600" cy="1402000"/>
                </a:xfrm>
                <a:prstGeom prst="rect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E0E0E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t/>
                  </a:r>
                  <a:endParaRPr b="0" i="0" sz="186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9" name="Google Shape;349;p13"/>
                <p:cNvSpPr/>
                <p:nvPr/>
              </p:nvSpPr>
              <p:spPr>
                <a:xfrm>
                  <a:off x="7341218" y="1361000"/>
                  <a:ext cx="4631600" cy="365600"/>
                </a:xfrm>
                <a:prstGeom prst="rect">
                  <a:avLst/>
                </a:prstGeom>
                <a:solidFill>
                  <a:srgbClr val="D4880F"/>
                </a:solidFill>
                <a:ln>
                  <a:noFill/>
                </a:ln>
              </p:spPr>
              <p:txBody>
                <a:bodyPr anchorCtr="0" anchor="ctr" bIns="121900" lIns="121900" spcFirstLastPara="1" rIns="121900" wrap="square" tIns="1219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67"/>
                    <a:buFont typeface="Arial"/>
                    <a:buNone/>
                  </a:pPr>
                  <a:r>
                    <a:t/>
                  </a:r>
                  <a:endParaRPr b="0" i="0" sz="1867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350" name="Google Shape;350;p13"/>
                <p:cNvGrpSpPr/>
                <p:nvPr/>
              </p:nvGrpSpPr>
              <p:grpSpPr>
                <a:xfrm>
                  <a:off x="609600" y="1361000"/>
                  <a:ext cx="11259800" cy="5422621"/>
                  <a:chOff x="609600" y="1361000"/>
                  <a:chExt cx="11259800" cy="5422621"/>
                </a:xfrm>
              </p:grpSpPr>
              <p:sp>
                <p:nvSpPr>
                  <p:cNvPr id="351" name="Google Shape;351;p13"/>
                  <p:cNvSpPr/>
                  <p:nvPr/>
                </p:nvSpPr>
                <p:spPr>
                  <a:xfrm>
                    <a:off x="2535000" y="1361000"/>
                    <a:ext cx="4631600" cy="1402000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E0E0E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r>
                      <a:t/>
                    </a:r>
                    <a:endParaRPr b="0" i="0" sz="186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2" name="Google Shape;352;p13"/>
                  <p:cNvSpPr/>
                  <p:nvPr/>
                </p:nvSpPr>
                <p:spPr>
                  <a:xfrm>
                    <a:off x="2535000" y="1361000"/>
                    <a:ext cx="4631600" cy="365600"/>
                  </a:xfrm>
                  <a:prstGeom prst="rect">
                    <a:avLst/>
                  </a:prstGeom>
                  <a:solidFill>
                    <a:srgbClr val="C0392B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r>
                      <a:t/>
                    </a:r>
                    <a:endParaRPr b="0" i="0" sz="186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3" name="Google Shape;353;p13"/>
                  <p:cNvSpPr/>
                  <p:nvPr/>
                </p:nvSpPr>
                <p:spPr>
                  <a:xfrm>
                    <a:off x="2638383" y="1361000"/>
                    <a:ext cx="4424800" cy="365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memory_calculator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54" name="Google Shape;354;p13"/>
                  <p:cNvSpPr/>
                  <p:nvPr/>
                </p:nvSpPr>
                <p:spPr>
                  <a:xfrm>
                    <a:off x="2638383" y="1848600"/>
                    <a:ext cx="4424800" cy="81692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2D2D2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프로세스별 RSS/RAM 비율</a:t>
                    </a:r>
                    <a:r>
                      <a:rPr b="0" i="0" lang="en-US" sz="1800" u="none" cap="none" strike="noStrike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 </a:t>
                    </a:r>
                    <a:r>
                      <a:rPr b="0" i="0" lang="en-US" sz="1800" u="none" cap="none" strike="noStrike">
                        <a:solidFill>
                          <a:schemeClr val="dk2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(상위 5개 합계)</a:t>
                    </a:r>
                    <a:endParaRPr b="0" i="0" sz="1800" u="none" cap="none" strike="noStrike">
                      <a:solidFill>
                        <a:schemeClr val="dk2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133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2D2D2D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OOM 보호 여부, </a:t>
                    </a:r>
                    <a:r>
                      <a:rPr b="0" i="0" lang="en-US" sz="1800" u="none" cap="none" strike="noStrike">
                        <a:solidFill>
                          <a:srgbClr val="2D2D2D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swap_status</a:t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55" name="Google Shape;355;p13"/>
                  <p:cNvSpPr/>
                  <p:nvPr/>
                </p:nvSpPr>
                <p:spPr>
                  <a:xfrm>
                    <a:off x="7444600" y="1361000"/>
                    <a:ext cx="4424800" cy="365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kernel_version_check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56" name="Google Shape;356;p13"/>
                  <p:cNvSpPr/>
                  <p:nvPr/>
                </p:nvSpPr>
                <p:spPr>
                  <a:xfrm>
                    <a:off x="7444600" y="1848600"/>
                    <a:ext cx="4424800" cy="7858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커널 버전별 알려진 OOM 버그 조회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133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세부 버전 비교, 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fix_version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 이후면 필터링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sp>
                <p:nvSpPr>
                  <p:cNvPr id="357" name="Google Shape;357;p13"/>
                  <p:cNvSpPr/>
                  <p:nvPr/>
                </p:nvSpPr>
                <p:spPr>
                  <a:xfrm>
                    <a:off x="2535000" y="2884999"/>
                    <a:ext cx="4631600" cy="1603873"/>
                  </a:xfrm>
                  <a:prstGeom prst="rect">
                    <a:avLst/>
                  </a:prstGeom>
                  <a:solidFill>
                    <a:srgbClr val="FFFFFF"/>
                  </a:solidFill>
                  <a:ln cap="flat" cmpd="sng" w="9525">
                    <a:solidFill>
                      <a:srgbClr val="E0E0E0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r>
                      <a:t/>
                    </a:r>
                    <a:endParaRPr b="0" i="0" sz="186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8" name="Google Shape;358;p13"/>
                  <p:cNvSpPr/>
                  <p:nvPr/>
                </p:nvSpPr>
                <p:spPr>
                  <a:xfrm>
                    <a:off x="2535000" y="2885000"/>
                    <a:ext cx="4631600" cy="365600"/>
                  </a:xfrm>
                  <a:prstGeom prst="rect">
                    <a:avLst/>
                  </a:prstGeom>
                  <a:solidFill>
                    <a:srgbClr val="1A8A6A"/>
                  </a:solidFill>
                  <a:ln>
                    <a:noFill/>
                  </a:ln>
                </p:spPr>
                <p:txBody>
                  <a:bodyPr anchorCtr="0" anchor="ctr" bIns="121900" lIns="121900" spcFirstLastPara="1" rIns="121900" wrap="square" tIns="1219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67"/>
                      <a:buFont typeface="Arial"/>
                      <a:buNone/>
                    </a:pPr>
                    <a:r>
                      <a:t/>
                    </a:r>
                    <a:endParaRPr b="0" i="0" sz="1867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359" name="Google Shape;359;p13"/>
                  <p:cNvSpPr/>
                  <p:nvPr/>
                </p:nvSpPr>
                <p:spPr>
                  <a:xfrm>
                    <a:off x="2638383" y="2885000"/>
                    <a:ext cx="4424800" cy="365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kernel_param_recommender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60" name="Google Shape;360;p13"/>
                  <p:cNvSpPr/>
                  <p:nvPr/>
                </p:nvSpPr>
                <p:spPr>
                  <a:xfrm>
                    <a:off x="2638383" y="3299528"/>
                    <a:ext cx="4424800" cy="101311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OOM 유형별 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sysctl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 추천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133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vm.overcommit_memory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,</a:t>
                    </a:r>
                    <a:b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</a:b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vm.swappiness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, …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sp>
                <p:nvSpPr>
                  <p:cNvPr id="361" name="Google Shape;361;p13"/>
                  <p:cNvSpPr/>
                  <p:nvPr/>
                </p:nvSpPr>
                <p:spPr>
                  <a:xfrm>
                    <a:off x="7444600" y="2885000"/>
                    <a:ext cx="4424800" cy="365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FFFF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search_kb</a:t>
                    </a:r>
                    <a:endParaRPr b="0" i="0" sz="2000" u="none" cap="none" strike="noStrike">
                      <a:solidFill>
                        <a:srgbClr val="000000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62" name="Google Shape;362;p13"/>
                  <p:cNvSpPr/>
                  <p:nvPr/>
                </p:nvSpPr>
                <p:spPr>
                  <a:xfrm>
                    <a:off x="7444600" y="3299528"/>
                    <a:ext cx="4424800" cy="89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oom_type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 기반 쿼리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ChromaDB 벡터 유사도 메타데이터 필터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25000"/>
                      </a:lnSpc>
                      <a:spcBef>
                        <a:spcPts val="133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error_category</a:t>
                    </a:r>
                    <a:r>
                      <a:rPr b="0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 매칭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pic>
                <p:nvPicPr>
                  <p:cNvPr id="363" name="Google Shape;363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2535000" y="4610872"/>
                    <a:ext cx="7966745" cy="21727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64" name="Google Shape;364;p13"/>
                  <p:cNvSpPr/>
                  <p:nvPr/>
                </p:nvSpPr>
                <p:spPr>
                  <a:xfrm>
                    <a:off x="840920" y="5413261"/>
                    <a:ext cx="1428000" cy="670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OUTPUT</a:t>
                    </a:r>
                    <a:endParaRPr b="1" i="0" sz="2000" u="none" cap="none" strike="noStrike">
                      <a:solidFill>
                        <a:srgbClr val="8B1A1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(</a:t>
                    </a:r>
                    <a:r>
                      <a:rPr b="1" i="0" lang="en-US" sz="2000" u="none" cap="none" strike="noStrike">
                        <a:solidFill>
                          <a:srgbClr val="8B1A1A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tool_result dict</a:t>
                    </a:r>
                    <a:r>
                      <a:rPr b="1" i="0" lang="en-US" sz="2000" u="none" cap="none" strike="noStrike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)</a:t>
                    </a:r>
                    <a:endParaRPr b="1" i="0" sz="2000" u="none" cap="none" strike="noStrike">
                      <a:solidFill>
                        <a:srgbClr val="8B1A1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sp>
                <p:nvSpPr>
                  <p:cNvPr id="365" name="Google Shape;365;p13"/>
                  <p:cNvSpPr/>
                  <p:nvPr/>
                </p:nvSpPr>
                <p:spPr>
                  <a:xfrm>
                    <a:off x="962490" y="2267082"/>
                    <a:ext cx="1052945" cy="37120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2000"/>
                      <a:buFont typeface="Arial"/>
                      <a:buNone/>
                    </a:pPr>
                    <a:r>
                      <a:rPr b="1" i="0" lang="en-US" sz="2000" u="none" cap="none" strike="noStrike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INPUT</a:t>
                    </a:r>
                    <a:endParaRPr b="1" i="0" sz="2000" u="none" cap="none" strike="noStrike">
                      <a:solidFill>
                        <a:srgbClr val="8B1A1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  <p:sp>
                <p:nvSpPr>
                  <p:cNvPr id="366" name="Google Shape;366;p13"/>
                  <p:cNvSpPr txBox="1"/>
                  <p:nvPr/>
                </p:nvSpPr>
                <p:spPr>
                  <a:xfrm>
                    <a:off x="609600" y="2788935"/>
                    <a:ext cx="1803445" cy="923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rPr b="1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Node 2 결과에 </a:t>
                    </a:r>
                    <a:br>
                      <a:rPr b="1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</a:br>
                    <a:r>
                      <a:rPr b="1" i="0" lang="en-US" sz="1800" u="none" cap="none" strike="noStrike">
                        <a:solidFill>
                          <a:srgbClr val="3A3A3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rPr>
                      <a:t>따라 tools 호출</a:t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3A3A3A"/>
                      </a:solidFill>
                      <a:latin typeface="Noto Sans KR"/>
                      <a:ea typeface="Noto Sans KR"/>
                      <a:cs typeface="Noto Sans KR"/>
                      <a:sym typeface="Noto Sans KR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4"/>
          <p:cNvSpPr/>
          <p:nvPr/>
        </p:nvSpPr>
        <p:spPr>
          <a:xfrm>
            <a:off x="0" y="0"/>
            <a:ext cx="12192000" cy="732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4"/>
          <p:cNvSpPr/>
          <p:nvPr/>
        </p:nvSpPr>
        <p:spPr>
          <a:xfrm>
            <a:off x="609600" y="243840"/>
            <a:ext cx="10972800" cy="67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7"/>
              <a:buFont typeface="Arial"/>
              <a:buNone/>
            </a:pPr>
            <a:r>
              <a:t/>
            </a:r>
            <a:endParaRPr b="0" i="0" sz="346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18246" y="1778291"/>
            <a:ext cx="3657600" cy="39921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19050">
              <a:srgbClr val="000000">
                <a:alpha val="7843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609600" y="1889767"/>
            <a:ext cx="3474867" cy="360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parsed_fields 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파싱된 로그 필드 </a:t>
            </a:r>
            <a:br>
              <a:rPr b="0" i="0" lang="en-US" sz="18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8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+ 계산 지표</a:t>
            </a:r>
            <a:endParaRPr b="0" i="0" sz="18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classification</a:t>
            </a:r>
            <a:r>
              <a:rPr b="1" i="0" lang="en-US" sz="24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OOM 유형 + 선택 도구</a:t>
            </a:r>
            <a:endParaRPr b="0" i="0" sz="18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D2D2D"/>
                </a:solidFill>
                <a:latin typeface="Consolas"/>
                <a:ea typeface="Consolas"/>
                <a:cs typeface="Consolas"/>
                <a:sym typeface="Consolas"/>
              </a:rPr>
              <a:t>tool_results</a:t>
            </a:r>
            <a:endParaRPr b="0" i="0" sz="20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메모리 분석, 파라미터 추천, KB 문서</a:t>
            </a:r>
            <a:endParaRPr b="0" i="0" sz="18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chemeClr val="accent5"/>
                </a:solidFill>
                <a:latin typeface="Noto Sans KR"/>
                <a:ea typeface="Noto Sans KR"/>
                <a:cs typeface="Noto Sans KR"/>
                <a:sym typeface="Noto Sans KR"/>
              </a:rPr>
              <a:t>메타데이터</a:t>
            </a:r>
            <a:endParaRPr b="0" i="0" sz="2000" u="none" cap="none" strike="noStrike">
              <a:solidFill>
                <a:schemeClr val="accent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4"/>
          <p:cNvSpPr/>
          <p:nvPr/>
        </p:nvSpPr>
        <p:spPr>
          <a:xfrm>
            <a:off x="5292167" y="1778307"/>
            <a:ext cx="5608400" cy="1511387"/>
          </a:xfrm>
          <a:prstGeom prst="rect">
            <a:avLst/>
          </a:prstGeom>
          <a:solidFill>
            <a:srgbClr val="FFF8F0"/>
          </a:solidFill>
          <a:ln>
            <a:noFill/>
          </a:ln>
          <a:effectLst>
            <a:outerShdw blurRad="50800" rotWithShape="0" algn="bl" dir="8100000" dist="19050">
              <a:srgbClr val="000000">
                <a:alpha val="7843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33"/>
              <a:buFont typeface="Arial"/>
              <a:buNone/>
            </a:pPr>
            <a:r>
              <a:t/>
            </a:r>
            <a:endParaRPr b="0" i="0" sz="21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4"/>
          <p:cNvSpPr/>
          <p:nvPr/>
        </p:nvSpPr>
        <p:spPr>
          <a:xfrm>
            <a:off x="7008668" y="1255335"/>
            <a:ext cx="2297547" cy="4723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E8910C"/>
                </a:solidFill>
                <a:latin typeface="Noto Sans KR"/>
                <a:ea typeface="Noto Sans KR"/>
                <a:cs typeface="Noto Sans KR"/>
                <a:sym typeface="Noto Sans KR"/>
              </a:rPr>
              <a:t>Chain of Thought</a:t>
            </a:r>
            <a:endParaRPr b="0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78" name="Google Shape;378;p14"/>
          <p:cNvSpPr/>
          <p:nvPr/>
        </p:nvSpPr>
        <p:spPr>
          <a:xfrm>
            <a:off x="5620002" y="2029691"/>
            <a:ext cx="4951200" cy="1131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b="0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Fact 나열: 로그에서 확인되는 수치 정리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0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인과관계 추론: 팩트 사이의 원인-결과 연결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33"/>
              <a:buFont typeface="Arial"/>
              <a:buNone/>
            </a:pPr>
            <a:r>
              <a:rPr b="1" i="0" lang="en-US" sz="1733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b="0" i="0" lang="en-US" sz="17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도구 결과 통합: 계산기+KB+파라미터 결과 반영</a:t>
            </a:r>
            <a:endParaRPr b="0" i="0" sz="1733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379" name="Google Shape;379;p14"/>
          <p:cNvGrpSpPr/>
          <p:nvPr/>
        </p:nvGrpSpPr>
        <p:grpSpPr>
          <a:xfrm>
            <a:off x="4328213" y="4435806"/>
            <a:ext cx="7766641" cy="1673708"/>
            <a:chOff x="4374796" y="4976133"/>
            <a:chExt cx="7766641" cy="1673708"/>
          </a:xfrm>
        </p:grpSpPr>
        <p:sp>
          <p:nvSpPr>
            <p:cNvPr id="380" name="Google Shape;380;p14"/>
            <p:cNvSpPr/>
            <p:nvPr/>
          </p:nvSpPr>
          <p:spPr>
            <a:xfrm>
              <a:off x="4374884" y="4984600"/>
              <a:ext cx="2588800" cy="1646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>
              <a:outerShdw blurRad="50800" rotWithShape="0" algn="bl" dir="8100000" dist="19050">
                <a:srgbClr val="000000">
                  <a:alpha val="7843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4374796" y="4976133"/>
              <a:ext cx="2588856" cy="426720"/>
            </a:xfrm>
            <a:prstGeom prst="rect">
              <a:avLst/>
            </a:prstGeom>
            <a:solidFill>
              <a:srgbClr val="1B9E8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4420623" y="4984600"/>
              <a:ext cx="2497200" cy="4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1" i="0" lang="en-US" sz="1867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log_analysis</a:t>
              </a:r>
              <a:endParaRPr b="1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4466361" y="5472280"/>
              <a:ext cx="2406000" cy="10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로그 팩트 요약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3"/>
                <a:buFont typeface="Arial"/>
                <a:buNone/>
              </a:pPr>
              <a:r>
                <a:rPr b="1" i="0" lang="en-US" sz="1533" u="none" cap="none" strike="noStrike">
                  <a:solidFill>
                    <a:srgbClr val="3A3A3A"/>
                  </a:solidFill>
                  <a:latin typeface="Consolas"/>
                  <a:ea typeface="Consolas"/>
                  <a:cs typeface="Consolas"/>
                  <a:sym typeface="Consolas"/>
                </a:rPr>
                <a:t>key_metrics</a:t>
              </a:r>
              <a:r>
                <a:rPr b="1" i="0" lang="en-US" sz="153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 :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RAM, Swap, 킬 프로세스,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Consolas"/>
                  <a:ea typeface="Consolas"/>
                  <a:cs typeface="Consolas"/>
                  <a:sym typeface="Consolas"/>
                </a:rPr>
                <a:t>constraint</a:t>
              </a:r>
              <a:endParaRPr b="0" i="0" sz="1533" u="none" cap="none" strike="noStrike">
                <a:solidFill>
                  <a:srgbClr val="3A3A3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6963773" y="5003841"/>
              <a:ext cx="2588800" cy="1646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>
              <a:outerShdw blurRad="50800" rotWithShape="0" algn="bl" dir="8100000" dist="19050">
                <a:srgbClr val="000000">
                  <a:alpha val="7843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6963773" y="4976133"/>
              <a:ext cx="2588800" cy="426800"/>
            </a:xfrm>
            <a:prstGeom prst="rect">
              <a:avLst/>
            </a:prstGeom>
            <a:solidFill>
              <a:srgbClr val="E8910C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7009512" y="4976133"/>
              <a:ext cx="2497200" cy="4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1" i="0" lang="en-US" sz="1867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diagnosis</a:t>
              </a:r>
              <a:endPara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7055251" y="5463813"/>
              <a:ext cx="2406000" cy="10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근본 원인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3"/>
                <a:buFont typeface="Arial"/>
                <a:buNone/>
              </a:pPr>
              <a:r>
                <a:rPr b="1" i="0" lang="en-US" sz="1533" u="none" cap="none" strike="noStrike">
                  <a:solidFill>
                    <a:srgbClr val="3A3A3A"/>
                  </a:solidFill>
                  <a:latin typeface="Consolas"/>
                  <a:ea typeface="Consolas"/>
                  <a:cs typeface="Consolas"/>
                  <a:sym typeface="Consolas"/>
                </a:rPr>
                <a:t>contributing_factors / evidence</a:t>
              </a:r>
              <a:endParaRPr b="1" i="0" sz="1533" u="none" cap="none" strike="noStrike">
                <a:solidFill>
                  <a:srgbClr val="3A3A3A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Calibri"/>
                  <a:ea typeface="Calibri"/>
                  <a:cs typeface="Calibri"/>
                  <a:sym typeface="Calibri"/>
                </a:rPr>
                <a:t>기여 요인 + 로그/KB 근거</a:t>
              </a:r>
              <a:endParaRPr b="0" i="0" sz="1533" u="none" cap="none" strike="noStrike">
                <a:solidFill>
                  <a:srgbClr val="3A3A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4"/>
            <p:cNvSpPr/>
            <p:nvPr/>
          </p:nvSpPr>
          <p:spPr>
            <a:xfrm>
              <a:off x="9552637" y="4976133"/>
              <a:ext cx="2588800" cy="1646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  <a:effectLst>
              <a:outerShdw blurRad="50800" rotWithShape="0" algn="bl" dir="8100000" dist="19050">
                <a:srgbClr val="000000">
                  <a:alpha val="7843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14"/>
            <p:cNvSpPr/>
            <p:nvPr/>
          </p:nvSpPr>
          <p:spPr>
            <a:xfrm>
              <a:off x="9552637" y="4976133"/>
              <a:ext cx="2588800" cy="426800"/>
            </a:xfrm>
            <a:prstGeom prst="rect">
              <a:avLst/>
            </a:prstGeom>
            <a:solidFill>
              <a:srgbClr val="4A72B0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33"/>
                <a:buFont typeface="Arial"/>
                <a:buNone/>
              </a:pPr>
              <a:r>
                <a:t/>
              </a:r>
              <a:endParaRPr b="0" i="0" sz="21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4"/>
            <p:cNvSpPr/>
            <p:nvPr/>
          </p:nvSpPr>
          <p:spPr>
            <a:xfrm>
              <a:off x="9598376" y="4976133"/>
              <a:ext cx="2497200" cy="426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67"/>
                <a:buFont typeface="Arial"/>
                <a:buNone/>
              </a:pPr>
              <a:r>
                <a:rPr b="1" i="0" lang="en-US" sz="1867" u="none" cap="none" strike="noStrike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action_guide</a:t>
              </a:r>
              <a:endParaRPr b="0" i="0" sz="1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4"/>
            <p:cNvSpPr/>
            <p:nvPr/>
          </p:nvSpPr>
          <p:spPr>
            <a:xfrm>
              <a:off x="9644115" y="5463813"/>
              <a:ext cx="2406000" cy="109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3"/>
                <a:buFont typeface="Arial"/>
                <a:buNone/>
              </a:pPr>
              <a:r>
                <a:rPr b="1" i="0" lang="en-US" sz="153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Immediate : 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즉시 조치 사항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33"/>
                <a:buFont typeface="Arial"/>
                <a:buNone/>
              </a:pPr>
              <a:r>
                <a:rPr b="1" i="0" lang="en-US" sz="1533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Recommended : 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  <a:p>
              <a:pPr indent="0" lvl="0" marL="0" marR="0" rtl="0" algn="l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67"/>
                <a:buFont typeface="Arial"/>
                <a:buNone/>
              </a:pPr>
              <a:r>
                <a:rPr b="0" i="0" lang="en-US" sz="1467" u="none" cap="none" strike="noStrike">
                  <a:solidFill>
                    <a:srgbClr val="3A3A3A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권장 + 추가 확인 사항</a:t>
              </a:r>
              <a:endParaRPr b="0" i="0" sz="1533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392" name="Google Shape;392;p14"/>
          <p:cNvSpPr/>
          <p:nvPr/>
        </p:nvSpPr>
        <p:spPr>
          <a:xfrm>
            <a:off x="609613" y="1303261"/>
            <a:ext cx="3292000" cy="36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INPUT</a:t>
            </a:r>
            <a:endParaRPr b="0" i="0" sz="20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6450429" y="3954535"/>
            <a:ext cx="3291900" cy="28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OUTPUT(최종 결과JSON)</a:t>
            </a:r>
            <a:endParaRPr b="0" i="0" sz="2000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731520" y="497014"/>
            <a:ext cx="10728960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Node 4 — Chain of Thought 종합 진단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396" name="Google Shape;3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8002264" y="3571600"/>
            <a:ext cx="186676" cy="1866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97" name="Google Shape;3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5862" y="2440662"/>
            <a:ext cx="186676" cy="18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eb727b8569_0_141"/>
          <p:cNvSpPr/>
          <p:nvPr/>
        </p:nvSpPr>
        <p:spPr>
          <a:xfrm>
            <a:off x="523625" y="5214925"/>
            <a:ext cx="10318200" cy="8259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1905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3eb727b8569_0_141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g3eb727b8569_0_141"/>
          <p:cNvSpPr txBox="1"/>
          <p:nvPr/>
        </p:nvSpPr>
        <p:spPr>
          <a:xfrm>
            <a:off x="489070" y="685164"/>
            <a:ext cx="107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- </a:t>
            </a: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검색 품질 평가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05" name="Google Shape;405;g3eb727b8569_0_141"/>
          <p:cNvSpPr/>
          <p:nvPr/>
        </p:nvSpPr>
        <p:spPr>
          <a:xfrm>
            <a:off x="523625" y="2695306"/>
            <a:ext cx="122100" cy="7317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06" name="Google Shape;406;g3eb727b8569_0_141"/>
          <p:cNvSpPr/>
          <p:nvPr/>
        </p:nvSpPr>
        <p:spPr>
          <a:xfrm>
            <a:off x="523625" y="3761074"/>
            <a:ext cx="122100" cy="970500"/>
          </a:xfrm>
          <a:prstGeom prst="rect">
            <a:avLst/>
          </a:prstGeom>
          <a:solidFill>
            <a:srgbClr val="E891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407" name="Google Shape;407;g3eb727b8569_0_141"/>
          <p:cNvSpPr/>
          <p:nvPr/>
        </p:nvSpPr>
        <p:spPr>
          <a:xfrm>
            <a:off x="489075" y="5262025"/>
            <a:ext cx="103182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Noto Sans KR"/>
              <a:buNone/>
            </a:pPr>
            <a:r>
              <a:rPr b="1" lang="en-US" sz="2000">
                <a:solidFill>
                  <a:srgbClr val="2D2D2D"/>
                </a:solidFill>
                <a:latin typeface="Noto Sans KR"/>
                <a:ea typeface="Noto Sans KR"/>
                <a:cs typeface="Noto Sans KR"/>
                <a:sym typeface="Noto Sans KR"/>
              </a:rPr>
              <a:t>Structured 쿼리는 Raw 대비 Recall@3 기준 11.6배, </a:t>
            </a:r>
            <a:endParaRPr b="1" sz="2000">
              <a:solidFill>
                <a:srgbClr val="2D2D2D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600"/>
              <a:buFont typeface="Noto Sans KR"/>
              <a:buNone/>
            </a:pPr>
            <a:r>
              <a:rPr b="1" lang="en-US" sz="2000">
                <a:solidFill>
                  <a:srgbClr val="2D2D2D"/>
                </a:solidFill>
                <a:latin typeface="Noto Sans KR"/>
                <a:ea typeface="Noto Sans KR"/>
                <a:cs typeface="Noto Sans KR"/>
                <a:sym typeface="Noto Sans KR"/>
              </a:rPr>
              <a:t>무작위 baseline(~0.025) 대비 약 13배 개선</a:t>
            </a:r>
            <a:endParaRPr b="1" sz="2000">
              <a:solidFill>
                <a:srgbClr val="2D2D2D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08" name="Google Shape;408;g3eb727b8569_0_141"/>
          <p:cNvSpPr txBox="1"/>
          <p:nvPr/>
        </p:nvSpPr>
        <p:spPr>
          <a:xfrm>
            <a:off x="682375" y="2685100"/>
            <a:ext cx="4839300" cy="24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Raw Log</a:t>
            </a:r>
            <a:endParaRPr b="1" sz="1600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OOM 로그 원문(수백 줄)을 그대로 임베딩 후 KB 검색</a:t>
            </a:r>
            <a:b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br>
              <a:rPr b="0" i="0" lang="en-US" sz="1467" u="none" cap="none" strike="noStrike">
                <a:solidFill>
                  <a:srgbClr val="2B6CB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lang="en-US" sz="16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Structured Log</a:t>
            </a:r>
            <a:br>
              <a:rPr b="1" lang="en-US" sz="16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Node 1 파서 결과 + 도메인 규칙으로 쿼리 동적 구성</a:t>
            </a:r>
            <a:endParaRPr sz="1600">
              <a:solidFill>
                <a:srgbClr val="3333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파서를 통해 얻은 선별되고 가공된 로그 사용</a:t>
            </a:r>
            <a:b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09" name="Google Shape;409;g3eb727b8569_0_141"/>
          <p:cNvGraphicFramePr/>
          <p:nvPr/>
        </p:nvGraphicFramePr>
        <p:xfrm>
          <a:off x="6371373" y="2701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{03E1383E-0732-403F-9BDE-E7FBA4C3A06F}</a:tableStyleId>
              </a:tblPr>
              <a:tblGrid>
                <a:gridCol w="2152300"/>
                <a:gridCol w="1158925"/>
                <a:gridCol w="1158925"/>
              </a:tblGrid>
              <a:tr h="54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Query Mode</a:t>
                      </a:r>
                      <a:endParaRPr b="1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Recall@3</a:t>
                      </a:r>
                      <a:endParaRPr b="1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Recall@5</a:t>
                      </a:r>
                      <a:endParaRPr b="1">
                        <a:solidFill>
                          <a:srgbClr val="8B1A1A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Raw Log</a:t>
                      </a:r>
                      <a:endParaRPr sz="1100">
                        <a:solidFill>
                          <a:srgbClr val="33333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0.018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</a:t>
                      </a: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036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Structured Log</a:t>
                      </a:r>
                      <a:endParaRPr sz="1100">
                        <a:solidFill>
                          <a:srgbClr val="33333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0.208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</a:t>
                      </a: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배율</a:t>
                      </a:r>
                      <a:endParaRPr sz="1100">
                        <a:solidFill>
                          <a:srgbClr val="33333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×11.6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×9.0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  <p:sp>
        <p:nvSpPr>
          <p:cNvPr id="410" name="Google Shape;410;g3eb727b8569_0_141"/>
          <p:cNvSpPr/>
          <p:nvPr/>
        </p:nvSpPr>
        <p:spPr>
          <a:xfrm>
            <a:off x="523625" y="1616875"/>
            <a:ext cx="647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7B1818"/>
                </a:solidFill>
              </a:rPr>
              <a:t>동일 ChromaDB 컬렉션(198개 청크)에 두 검색 전략을 비교</a:t>
            </a:r>
            <a:endParaRPr b="1" sz="2400">
              <a:solidFill>
                <a:srgbClr val="2D2D2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5"/>
          <p:cNvSpPr/>
          <p:nvPr/>
        </p:nvSpPr>
        <p:spPr>
          <a:xfrm>
            <a:off x="0" y="0"/>
            <a:ext cx="12192000" cy="146304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 txBox="1"/>
          <p:nvPr/>
        </p:nvSpPr>
        <p:spPr>
          <a:xfrm>
            <a:off x="719091" y="1564087"/>
            <a:ext cx="5242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비교 조건</a:t>
            </a:r>
            <a:endParaRPr b="0" i="0" sz="1867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17" name="Google Shape;417;p15"/>
          <p:cNvSpPr txBox="1"/>
          <p:nvPr/>
        </p:nvSpPr>
        <p:spPr>
          <a:xfrm>
            <a:off x="719091" y="1933833"/>
            <a:ext cx="5120700" cy="46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GPT 5.2 (상용 API baseline)</a:t>
            </a:r>
            <a:b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Qwen 3.5-9B (Naive baseline)</a:t>
            </a:r>
            <a:b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Qwen 3.5-9B + RAG</a:t>
            </a:r>
            <a:endParaRPr b="0" i="0" sz="1600" u="none" cap="none" strike="noStrike">
              <a:solidFill>
                <a:srgbClr val="3A3A3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Qwen 3.5-2B + RAG</a:t>
            </a:r>
            <a:b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Gemma 4 E4B + RAG</a:t>
            </a:r>
            <a:b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 Gemma 4 E2B + RAG</a:t>
            </a:r>
            <a:br>
              <a:rPr b="0" i="0" lang="en-US" sz="1467" u="none" cap="none" strike="noStrike">
                <a:solidFill>
                  <a:srgbClr val="2B6CB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br>
              <a:rPr b="0" i="0" lang="en-US" sz="1467" u="none" cap="none" strike="noStrike">
                <a:solidFill>
                  <a:srgbClr val="2B6CB0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1" i="0" lang="en-US" sz="1600" u="none" cap="none" strike="noStrike">
                <a:solidFill>
                  <a:srgbClr val="3A3A3A"/>
                </a:solidFill>
                <a:latin typeface="Noto Sans KR"/>
                <a:ea typeface="Noto Sans KR"/>
                <a:cs typeface="Noto Sans KR"/>
                <a:sym typeface="Noto Sans KR"/>
              </a:rPr>
              <a:t>측정 지표</a:t>
            </a:r>
            <a:br>
              <a:rPr b="1" lang="en-US" sz="16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OOM 유형 분류 카테코리</a:t>
            </a:r>
            <a:b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판단 근거의 적절함</a:t>
            </a:r>
            <a:endParaRPr sz="1600">
              <a:solidFill>
                <a:srgbClr val="3333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추천 조치의 적절함</a:t>
            </a:r>
            <a:br>
              <a:rPr b="1" i="0" lang="en-US" sz="1600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VRAM 사용량 (GB)</a:t>
            </a:r>
            <a:br>
              <a:rPr b="0" i="0" lang="en-US" sz="16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6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추론 시간 (초/로그)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8" name="Google Shape;418;p15"/>
          <p:cNvGraphicFramePr/>
          <p:nvPr/>
        </p:nvGraphicFramePr>
        <p:xfrm>
          <a:off x="3727323" y="19338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{03E1383E-0732-403F-9BDE-E7FBA4C3A06F}</a:tableStyleId>
              </a:tblPr>
              <a:tblGrid>
                <a:gridCol w="2152300"/>
                <a:gridCol w="1158925"/>
                <a:gridCol w="1158925"/>
                <a:gridCol w="1158925"/>
                <a:gridCol w="1407275"/>
                <a:gridCol w="1241725"/>
              </a:tblGrid>
              <a:tr h="546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Condition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Category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Evidence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Guide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VRAM/query (GB)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>
                          <a:solidFill>
                            <a:srgbClr val="8B1A1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Sec/query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Qwen3.5-0.8B (RAG)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0.566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17.15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123.33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Qwen3.5-2B (RAG)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17.73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86.96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Qwen3.5-9B (RAG)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42.70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65.28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Gemma4-E2B (RAG)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0.626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16.92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39.88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Gemma4-E4B (RAG)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1.000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0.585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0.637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39.64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56.13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Qwen3.5-9B (Naive)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0.679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0.562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0.551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42.60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164.45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94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GPT-5.2 (Naive)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0.645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0.654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n/a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rgbClr val="33333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9.50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B1A1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0F0"/>
                    </a:solidFill>
                  </a:tcPr>
                </a:tc>
              </a:tr>
            </a:tbl>
          </a:graphicData>
        </a:graphic>
      </p:graphicFrame>
      <p:sp>
        <p:nvSpPr>
          <p:cNvPr id="419" name="Google Shape;419;p15"/>
          <p:cNvSpPr txBox="1"/>
          <p:nvPr/>
        </p:nvSpPr>
        <p:spPr>
          <a:xfrm>
            <a:off x="489070" y="685164"/>
            <a:ext cx="107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- 생성 품질 및 시스템 비용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489075" y="1564062"/>
            <a:ext cx="122100" cy="2439900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21" name="Google Shape;421;p15"/>
          <p:cNvSpPr/>
          <p:nvPr/>
        </p:nvSpPr>
        <p:spPr>
          <a:xfrm>
            <a:off x="489075" y="4478422"/>
            <a:ext cx="122100" cy="2039100"/>
          </a:xfrm>
          <a:prstGeom prst="rect">
            <a:avLst/>
          </a:prstGeom>
          <a:solidFill>
            <a:srgbClr val="E891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eb727b8569_0_30"/>
          <p:cNvSpPr/>
          <p:nvPr/>
        </p:nvSpPr>
        <p:spPr>
          <a:xfrm>
            <a:off x="6542850" y="2022350"/>
            <a:ext cx="5157600" cy="3586800"/>
          </a:xfrm>
          <a:prstGeom prst="rect">
            <a:avLst/>
          </a:prstGeom>
          <a:solidFill>
            <a:srgbClr val="F0F4F8"/>
          </a:solidFill>
          <a:ln>
            <a:noFill/>
          </a:ln>
          <a:effectLst>
            <a:outerShdw blurRad="50800" rotWithShape="0" algn="bl" dir="8100000" dist="19050">
              <a:srgbClr val="000000">
                <a:alpha val="784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3eb727b8569_0_30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eb727b8569_0_30"/>
          <p:cNvSpPr txBox="1"/>
          <p:nvPr/>
        </p:nvSpPr>
        <p:spPr>
          <a:xfrm>
            <a:off x="489070" y="685164"/>
            <a:ext cx="10728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실험 결과 - </a:t>
            </a:r>
            <a:r>
              <a:rPr b="1" lang="en-US" sz="3200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생성 품질 및 시스템 비용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29" name="Google Shape;429;g3eb727b8569_0_30"/>
          <p:cNvSpPr txBox="1"/>
          <p:nvPr/>
        </p:nvSpPr>
        <p:spPr>
          <a:xfrm>
            <a:off x="6671725" y="2197250"/>
            <a:ext cx="5028600" cy="3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28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1A1A"/>
              </a:buClr>
              <a:buSzPts val="1467"/>
              <a:buFont typeface="Noto Sans KR"/>
              <a:buChar char="●"/>
            </a:pPr>
            <a:r>
              <a:rPr b="1" lang="en-US" sz="2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RAGstar의 적용</a:t>
            </a:r>
            <a:r>
              <a:rPr b="1" i="0" lang="en-US" sz="20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:</a:t>
            </a:r>
            <a:r>
              <a:rPr b="0" i="0" lang="en-US" sz="2000" u="none" cap="none" strike="noStrike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Naive 모델에 비해서 Cate.(+0.321), Evid.(+0.073), Act(+0.106) 모든 기준에서 더 빠르고 정확한 응답 생성</a:t>
            </a:r>
            <a:endParaRPr sz="2000">
              <a:solidFill>
                <a:srgbClr val="3333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228600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8B1A1A"/>
              </a:buClr>
              <a:buSzPts val="1467"/>
              <a:buFont typeface="Noto Sans KR"/>
              <a:buChar char="●"/>
            </a:pPr>
            <a:r>
              <a:rPr b="1" lang="en-US" sz="2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GPT-5.2와 정량평가:</a:t>
            </a:r>
            <a:r>
              <a:rPr lang="en-US" sz="2000">
                <a:solidFill>
                  <a:srgbClr val="333333"/>
                </a:solidFill>
                <a:latin typeface="Noto Sans KR"/>
                <a:ea typeface="Noto Sans KR"/>
                <a:cs typeface="Noto Sans KR"/>
                <a:sym typeface="Noto Sans KR"/>
              </a:rPr>
              <a:t> Cate.(+0.357), Act(+0.003)에서 GPT-5.2보다 앞선 응답 생성. 또한 동일한 입력에 대한 GPT의 비일관성 관측</a:t>
            </a:r>
            <a:endParaRPr i="0" sz="2000" u="none" cap="none" strike="noStrike">
              <a:solidFill>
                <a:srgbClr val="333333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5446" lvl="0" marL="2286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8B1A1A"/>
              </a:buClr>
              <a:buSzPts val="1467"/>
              <a:buFont typeface="Malgun Gothic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0" name="Google Shape;430;g3eb727b8569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925" y="1612751"/>
            <a:ext cx="6366923" cy="3914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b727b8569_0_59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g3eb727b8569_0_59"/>
          <p:cNvSpPr txBox="1"/>
          <p:nvPr/>
        </p:nvSpPr>
        <p:spPr>
          <a:xfrm>
            <a:off x="731520" y="472360"/>
            <a:ext cx="107289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6"/>
              <a:buFont typeface="Arial"/>
              <a:buNone/>
            </a:pPr>
            <a:r>
              <a:rPr b="1" i="0" lang="en-US" sz="3467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라이브 시연</a:t>
            </a:r>
            <a:endParaRPr b="1" i="0" sz="3467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7" name="Google Shape;437;g3eb727b8569_0_59"/>
          <p:cNvSpPr txBox="1"/>
          <p:nvPr/>
        </p:nvSpPr>
        <p:spPr>
          <a:xfrm>
            <a:off x="2405213" y="1398335"/>
            <a:ext cx="21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입력 화면</a:t>
            </a:r>
            <a:endParaRPr b="1" i="0" sz="24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8" name="Google Shape;438;g3eb727b8569_0_59"/>
          <p:cNvSpPr txBox="1"/>
          <p:nvPr/>
        </p:nvSpPr>
        <p:spPr>
          <a:xfrm>
            <a:off x="8686853" y="1398325"/>
            <a:ext cx="217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출력 화면</a:t>
            </a:r>
            <a:endParaRPr b="1" i="0" sz="2400" u="none" cap="none" strike="noStrike">
              <a:solidFill>
                <a:srgbClr val="666666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39" name="Google Shape;439;g3eb727b8569_0_59" title="데모 화면 1.png"/>
          <p:cNvPicPr preferRelativeResize="0"/>
          <p:nvPr/>
        </p:nvPicPr>
        <p:blipFill rotWithShape="1">
          <a:blip r:embed="rId3">
            <a:alphaModFix/>
          </a:blip>
          <a:srcRect b="0" l="15932" r="18070" t="0"/>
          <a:stretch/>
        </p:blipFill>
        <p:spPr>
          <a:xfrm>
            <a:off x="168900" y="2281251"/>
            <a:ext cx="3222051" cy="3150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g3eb727b8569_0_59" title="데모 화면 4(RAGstar에만 메타데이터 추가).png"/>
          <p:cNvPicPr preferRelativeResize="0"/>
          <p:nvPr/>
        </p:nvPicPr>
        <p:blipFill rotWithShape="1">
          <a:blip r:embed="rId4">
            <a:alphaModFix/>
          </a:blip>
          <a:srcRect b="0" l="17537" r="19605" t="3614"/>
          <a:stretch/>
        </p:blipFill>
        <p:spPr>
          <a:xfrm>
            <a:off x="8161375" y="1901575"/>
            <a:ext cx="3222051" cy="46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eb727b8569_0_59"/>
          <p:cNvSpPr/>
          <p:nvPr/>
        </p:nvSpPr>
        <p:spPr>
          <a:xfrm>
            <a:off x="7068038" y="3657125"/>
            <a:ext cx="1030500" cy="662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7B252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42" name="Google Shape;442;g3eb727b8569_0_59" title="데모 화면 2.png"/>
          <p:cNvPicPr preferRelativeResize="0"/>
          <p:nvPr/>
        </p:nvPicPr>
        <p:blipFill rotWithShape="1">
          <a:blip r:embed="rId5">
            <a:alphaModFix/>
          </a:blip>
          <a:srcRect b="0" l="13974" r="16018" t="0"/>
          <a:stretch/>
        </p:blipFill>
        <p:spPr>
          <a:xfrm>
            <a:off x="3390950" y="2063425"/>
            <a:ext cx="3677101" cy="4501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eb727b8569_0_79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g3eb727b8569_0_79"/>
          <p:cNvSpPr txBox="1"/>
          <p:nvPr/>
        </p:nvSpPr>
        <p:spPr>
          <a:xfrm>
            <a:off x="731520" y="472360"/>
            <a:ext cx="107289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6"/>
              <a:buFont typeface="Arial"/>
              <a:buNone/>
            </a:pPr>
            <a:r>
              <a:rPr b="1" i="0" lang="en-US" sz="3467" u="none" cap="none" strike="noStrike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라이브 시연</a:t>
            </a:r>
            <a:endParaRPr b="1" i="0" sz="3467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49" name="Google Shape;449;g3eb727b8569_0_79" title="Screenshot_20260531142719.p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990" t="0"/>
          <a:stretch/>
        </p:blipFill>
        <p:spPr>
          <a:xfrm>
            <a:off x="3164338" y="944087"/>
            <a:ext cx="5863324" cy="5898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eb727b8569_0_109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eb727b8569_0_109"/>
          <p:cNvSpPr txBox="1"/>
          <p:nvPr/>
        </p:nvSpPr>
        <p:spPr>
          <a:xfrm>
            <a:off x="731520" y="472360"/>
            <a:ext cx="107289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66"/>
              <a:buFont typeface="Arial"/>
              <a:buNone/>
            </a:pPr>
            <a:r>
              <a:rPr b="1" lang="en-US" sz="3467">
                <a:solidFill>
                  <a:srgbClr val="8B1A1A"/>
                </a:solidFill>
                <a:latin typeface="Noto Sans KR"/>
                <a:ea typeface="Noto Sans KR"/>
                <a:cs typeface="Noto Sans KR"/>
                <a:sym typeface="Noto Sans KR"/>
              </a:rPr>
              <a:t>차별성(기여도) 및 결론</a:t>
            </a:r>
            <a:endParaRPr b="1" i="0" sz="3467" u="none" cap="none" strike="noStrike">
              <a:solidFill>
                <a:srgbClr val="8B1A1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6" name="Google Shape;456;g3eb727b8569_0_109"/>
          <p:cNvSpPr/>
          <p:nvPr/>
        </p:nvSpPr>
        <p:spPr>
          <a:xfrm>
            <a:off x="609683" y="1675800"/>
            <a:ext cx="5242500" cy="200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5467" rotWithShape="0" algn="bl" dir="8100000" dist="33867">
              <a:srgbClr val="000000">
                <a:alpha val="1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eb727b8569_0_109"/>
          <p:cNvSpPr/>
          <p:nvPr/>
        </p:nvSpPr>
        <p:spPr>
          <a:xfrm>
            <a:off x="609683" y="1675800"/>
            <a:ext cx="97500" cy="2002500"/>
          </a:xfrm>
          <a:prstGeom prst="rect">
            <a:avLst/>
          </a:prstGeom>
          <a:solidFill>
            <a:srgbClr val="E8910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58" name="Google Shape;458;g3eb727b8569_0_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83" y="1898320"/>
            <a:ext cx="487680" cy="593385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g3eb727b8569_0_109"/>
          <p:cNvSpPr/>
          <p:nvPr/>
        </p:nvSpPr>
        <p:spPr>
          <a:xfrm>
            <a:off x="1585042" y="1824147"/>
            <a:ext cx="402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Arial"/>
              <a:buNone/>
            </a:pPr>
            <a:r>
              <a:rPr b="1" lang="en-US" sz="2000">
                <a:solidFill>
                  <a:srgbClr val="2D2D2D"/>
                </a:solidFill>
              </a:rPr>
              <a:t>학술적 기여 (KCC 논문)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eb727b8569_0_109"/>
          <p:cNvSpPr/>
          <p:nvPr/>
        </p:nvSpPr>
        <p:spPr>
          <a:xfrm>
            <a:off x="953449" y="2565878"/>
            <a:ext cx="46329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Arial"/>
              <a:buNone/>
            </a:pPr>
            <a:r>
              <a:rPr lang="en-US" sz="1700">
                <a:solidFill>
                  <a:srgbClr val="5A5A5A"/>
                </a:solidFill>
              </a:rPr>
              <a:t>커널 디버깅 도메인에서 구조화 파싱 + 도구 기반 RAG 파이프라인을 제안, </a:t>
            </a:r>
            <a:br>
              <a:rPr lang="en-US" sz="1700">
                <a:solidFill>
                  <a:srgbClr val="5A5A5A"/>
                </a:solidFill>
              </a:rPr>
            </a:br>
            <a:r>
              <a:rPr lang="en-US" sz="1700">
                <a:solidFill>
                  <a:srgbClr val="5A5A5A"/>
                </a:solidFill>
              </a:rPr>
              <a:t>로컬 소형 LLM 환경에서의 RAG 부가 </a:t>
            </a:r>
            <a:br>
              <a:rPr lang="en-US" sz="1700">
                <a:solidFill>
                  <a:srgbClr val="5A5A5A"/>
                </a:solidFill>
              </a:rPr>
            </a:br>
            <a:r>
              <a:rPr lang="en-US" sz="1700">
                <a:solidFill>
                  <a:srgbClr val="5A5A5A"/>
                </a:solidFill>
              </a:rPr>
              <a:t>가치를 정량적으로 검증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eb727b8569_0_109"/>
          <p:cNvSpPr/>
          <p:nvPr/>
        </p:nvSpPr>
        <p:spPr>
          <a:xfrm>
            <a:off x="6339918" y="1670150"/>
            <a:ext cx="5242500" cy="200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5467" rotWithShape="0" algn="bl" dir="8100000" dist="33867">
              <a:srgbClr val="000000">
                <a:alpha val="1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eb727b8569_0_109"/>
          <p:cNvSpPr/>
          <p:nvPr/>
        </p:nvSpPr>
        <p:spPr>
          <a:xfrm>
            <a:off x="6339918" y="1675800"/>
            <a:ext cx="97500" cy="2002500"/>
          </a:xfrm>
          <a:prstGeom prst="rect">
            <a:avLst/>
          </a:prstGeom>
          <a:solidFill>
            <a:srgbClr val="4A72B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3" name="Google Shape;463;g3eb727b8569_0_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4718" y="1898320"/>
            <a:ext cx="487680" cy="59338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g3eb727b8569_0_109"/>
          <p:cNvSpPr/>
          <p:nvPr/>
        </p:nvSpPr>
        <p:spPr>
          <a:xfrm>
            <a:off x="7315277" y="1824147"/>
            <a:ext cx="402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Arial"/>
              <a:buNone/>
            </a:pPr>
            <a:r>
              <a:rPr b="1" lang="en-US" sz="2000">
                <a:solidFill>
                  <a:srgbClr val="2D2D2D"/>
                </a:solidFill>
              </a:rPr>
              <a:t>데이터셋 공개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g3eb727b8569_0_109"/>
          <p:cNvSpPr/>
          <p:nvPr/>
        </p:nvSpPr>
        <p:spPr>
          <a:xfrm>
            <a:off x="6683700" y="2560233"/>
            <a:ext cx="49665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Arial"/>
              <a:buNone/>
            </a:pPr>
            <a:r>
              <a:rPr lang="en-US" sz="1700">
                <a:solidFill>
                  <a:srgbClr val="5A5A5A"/>
                </a:solidFill>
              </a:rPr>
              <a:t>OOM 4유형 특화 벤치마크 데이터셋 구축 및 공개 </a:t>
            </a:r>
            <a:br>
              <a:rPr lang="en-US" sz="1700">
                <a:solidFill>
                  <a:srgbClr val="5A5A5A"/>
                </a:solidFill>
              </a:rPr>
            </a:br>
            <a:r>
              <a:rPr lang="en-US" sz="1700">
                <a:solidFill>
                  <a:srgbClr val="5A5A5A"/>
                </a:solidFill>
              </a:rPr>
              <a:t>OOM 분석 연구의 재현성 기반 제공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g3eb727b8569_0_109"/>
          <p:cNvSpPr/>
          <p:nvPr/>
        </p:nvSpPr>
        <p:spPr>
          <a:xfrm>
            <a:off x="609683" y="3975169"/>
            <a:ext cx="5242500" cy="200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5467" rotWithShape="0" algn="bl" dir="8100000" dist="33867">
              <a:srgbClr val="000000">
                <a:alpha val="1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3eb727b8569_0_109"/>
          <p:cNvSpPr/>
          <p:nvPr/>
        </p:nvSpPr>
        <p:spPr>
          <a:xfrm>
            <a:off x="609683" y="3975169"/>
            <a:ext cx="97500" cy="2002500"/>
          </a:xfrm>
          <a:prstGeom prst="rect">
            <a:avLst/>
          </a:prstGeom>
          <a:solidFill>
            <a:srgbClr val="1B9E8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68" name="Google Shape;468;g3eb727b8569_0_10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83" y="4197688"/>
            <a:ext cx="487680" cy="593385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g3eb727b8569_0_109"/>
          <p:cNvSpPr/>
          <p:nvPr/>
        </p:nvSpPr>
        <p:spPr>
          <a:xfrm>
            <a:off x="1585042" y="4123515"/>
            <a:ext cx="402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Arial"/>
              <a:buNone/>
            </a:pPr>
            <a:r>
              <a:rPr b="1" lang="en-US" sz="2000">
                <a:solidFill>
                  <a:srgbClr val="2D2D2D"/>
                </a:solidFill>
              </a:rPr>
              <a:t>사내망으로 실제 적용 가능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g3eb727b8569_0_109"/>
          <p:cNvSpPr/>
          <p:nvPr/>
        </p:nvSpPr>
        <p:spPr>
          <a:xfrm>
            <a:off x="953433" y="4972387"/>
            <a:ext cx="46329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Arial"/>
              <a:buNone/>
            </a:pPr>
            <a:r>
              <a:rPr lang="en-US" sz="1700">
                <a:solidFill>
                  <a:srgbClr val="5A5A5A"/>
                </a:solidFill>
              </a:rPr>
              <a:t>vLLM</a:t>
            </a:r>
            <a:r>
              <a:rPr lang="en-US" sz="1700">
                <a:solidFill>
                  <a:srgbClr val="5A5A5A"/>
                </a:solidFill>
              </a:rPr>
              <a:t> + ChromaDB 전부 로컬 구동 </a:t>
            </a:r>
            <a:r>
              <a:rPr lang="en-US" sz="1700">
                <a:solidFill>
                  <a:srgbClr val="5A5A5A"/>
                </a:solidFill>
              </a:rPr>
              <a:t>가능하며,</a:t>
            </a:r>
            <a:endParaRPr sz="1700">
              <a:solidFill>
                <a:srgbClr val="5A5A5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Arial"/>
              <a:buNone/>
            </a:pPr>
            <a:r>
              <a:rPr lang="en-US" sz="1700">
                <a:solidFill>
                  <a:srgbClr val="5A5A5A"/>
                </a:solidFill>
              </a:rPr>
              <a:t>클라우드 LLM 최신 모델인 GPT 5.2와의 성능 평가에서도 비슷하거나, 더 유용한 응답 생성</a:t>
            </a:r>
            <a:endParaRPr sz="1700">
              <a:solidFill>
                <a:srgbClr val="5A5A5A"/>
              </a:solidFill>
            </a:endParaRPr>
          </a:p>
        </p:txBody>
      </p:sp>
      <p:sp>
        <p:nvSpPr>
          <p:cNvPr id="471" name="Google Shape;471;g3eb727b8569_0_109"/>
          <p:cNvSpPr/>
          <p:nvPr/>
        </p:nvSpPr>
        <p:spPr>
          <a:xfrm>
            <a:off x="6339918" y="3975169"/>
            <a:ext cx="5242500" cy="20025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5467" rotWithShape="0" algn="bl" dir="8100000" dist="33867">
              <a:srgbClr val="000000">
                <a:alpha val="102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g3eb727b8569_0_109"/>
          <p:cNvSpPr/>
          <p:nvPr/>
        </p:nvSpPr>
        <p:spPr>
          <a:xfrm>
            <a:off x="6339918" y="3975169"/>
            <a:ext cx="97500" cy="2002500"/>
          </a:xfrm>
          <a:prstGeom prst="rect">
            <a:avLst/>
          </a:prstGeom>
          <a:solidFill>
            <a:srgbClr val="7B5EA7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473" name="Google Shape;473;g3eb727b8569_0_10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4718" y="4197688"/>
            <a:ext cx="487680" cy="593385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3eb727b8569_0_109"/>
          <p:cNvSpPr/>
          <p:nvPr/>
        </p:nvSpPr>
        <p:spPr>
          <a:xfrm>
            <a:off x="7315277" y="4123515"/>
            <a:ext cx="40233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2D2D"/>
              </a:buClr>
              <a:buSzPts val="1700"/>
              <a:buFont typeface="Arial"/>
              <a:buNone/>
            </a:pPr>
            <a:r>
              <a:rPr b="1" lang="en-US" sz="2000">
                <a:solidFill>
                  <a:srgbClr val="2D2D2D"/>
                </a:solidFill>
              </a:rPr>
              <a:t>LLM 대비 일관된 응답 생성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eb727b8569_0_109"/>
          <p:cNvSpPr/>
          <p:nvPr/>
        </p:nvSpPr>
        <p:spPr>
          <a:xfrm>
            <a:off x="6644725" y="4824175"/>
            <a:ext cx="48156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00"/>
              <a:buFont typeface="Arial"/>
              <a:buNone/>
            </a:pPr>
            <a:r>
              <a:rPr lang="en-US" sz="1700">
                <a:solidFill>
                  <a:srgbClr val="5A5A5A"/>
                </a:solidFill>
              </a:rPr>
              <a:t>코드 기반 도구</a:t>
            </a:r>
            <a:r>
              <a:rPr lang="en-US" sz="1700">
                <a:solidFill>
                  <a:srgbClr val="5A5A5A"/>
                </a:solidFill>
              </a:rPr>
              <a:t>와 정형적 파이프라인을 통해 동일한 입력에 대해서도 매 실행마다 다른 답을 내놓는 GPT 5.2와는 달리 항상 일관적이고 안정적인 응답 생성</a:t>
            </a:r>
            <a:endParaRPr sz="1700">
              <a:solidFill>
                <a:srgbClr val="5A5A5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9"/>
          <p:cNvSpPr/>
          <p:nvPr/>
        </p:nvSpPr>
        <p:spPr>
          <a:xfrm>
            <a:off x="0" y="0"/>
            <a:ext cx="12192000" cy="18288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9"/>
          <p:cNvSpPr/>
          <p:nvPr/>
        </p:nvSpPr>
        <p:spPr>
          <a:xfrm>
            <a:off x="0" y="1828800"/>
            <a:ext cx="12192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</a:pPr>
            <a:r>
              <a:rPr b="1" i="0" lang="en-US" sz="6400" u="none" cap="none" strike="noStrike">
                <a:solidFill>
                  <a:srgbClr val="2D2D2D"/>
                </a:solidFill>
                <a:latin typeface="Arial Black"/>
                <a:ea typeface="Arial Black"/>
                <a:cs typeface="Arial Black"/>
                <a:sym typeface="Arial Black"/>
              </a:rPr>
              <a:t>감사합니다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9"/>
          <p:cNvSpPr/>
          <p:nvPr/>
        </p:nvSpPr>
        <p:spPr>
          <a:xfrm>
            <a:off x="0" y="3657600"/>
            <a:ext cx="1219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8B1A1A"/>
                </a:solidFill>
                <a:latin typeface="Arial"/>
                <a:ea typeface="Arial"/>
                <a:cs typeface="Arial"/>
                <a:sym typeface="Arial"/>
              </a:rPr>
              <a:t>캡스톤디자인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9"/>
          <p:cNvSpPr/>
          <p:nvPr/>
        </p:nvSpPr>
        <p:spPr>
          <a:xfrm>
            <a:off x="0" y="4267200"/>
            <a:ext cx="12192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33"/>
              <a:buFont typeface="Arial"/>
              <a:buNone/>
            </a:pPr>
            <a:r>
              <a:rPr b="0" i="0" lang="en-US" sz="2533" u="none" cap="none" strike="noStrike">
                <a:solidFill>
                  <a:srgbClr val="5A5A5A"/>
                </a:solidFill>
                <a:latin typeface="Arial"/>
                <a:ea typeface="Arial"/>
                <a:cs typeface="Arial"/>
                <a:sym typeface="Arial"/>
              </a:rPr>
              <a:t>강승묵 · 이규형 · 박준영 · 하지훈</a:t>
            </a:r>
            <a:endParaRPr b="0" i="0" sz="253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/>
          <p:nvPr/>
        </p:nvSpPr>
        <p:spPr>
          <a:xfrm>
            <a:off x="0" y="0"/>
            <a:ext cx="12192000" cy="146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67"/>
              <a:buFont typeface="Arial"/>
              <a:buNone/>
            </a:pPr>
            <a:r>
              <a:t/>
            </a:r>
            <a:endParaRPr b="0" i="0" sz="186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2026-05-21T11:24:01Z</dcterms:created>
  <dc:creator>강승묵</dc:creator>
</cp:coreProperties>
</file>